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template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  <p:sldMasterId id="2147483966" r:id="rId2"/>
  </p:sldMasterIdLst>
  <p:notesMasterIdLst>
    <p:notesMasterId r:id="rId93"/>
  </p:notesMasterIdLst>
  <p:handoutMasterIdLst>
    <p:handoutMasterId r:id="rId94"/>
  </p:handoutMasterIdLst>
  <p:sldIdLst>
    <p:sldId id="2147478720" r:id="rId100"/>
    <p:sldId id="2147478721" r:id="rId101"/>
    <p:sldId id="2147478722" r:id="rId102"/>
    <p:sldId id="2147478723" r:id="rId103"/>
    <p:sldId id="2147478724" r:id="rId104"/>
    <p:sldId id="2147478725" r:id="rId105"/>
    <p:sldId id="2147478726" r:id="rId106"/>
    <p:sldId id="2147478727" r:id="rId107"/>
    <p:sldId id="2147478728" r:id="rId108"/>
    <p:sldId id="2147478729" r:id="rId109"/>
    <p:sldId id="2147478730" r:id="rId110"/>
    <p:sldId id="2147478731" r:id="rId111"/>
    <p:sldId id="2147478732" r:id="rId112"/>
    <p:sldId id="2147478733" r:id="rId113"/>
    <p:sldId id="2147478734" r:id="rId114"/>
    <p:sldId id="2147478735" r:id="rId115"/>
    <p:sldId id="2147478736" r:id="rId116"/>
    <p:sldId id="2147478737" r:id="rId117"/>
    <p:sldId id="2147478738" r:id="rId118"/>
    <p:sldId id="2147478739" r:id="rId119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D3C2CAC-92CB-0F44-9D69-DAC9BC94F557}">
          <p14:sldIdLst>
            <p14:sldId id="2147478533"/>
          </p14:sldIdLst>
        </p14:section>
        <p14:section name="titles" id="{0A2970FA-222C-0743-ACFE-3A5DEA4E0DE5}">
          <p14:sldIdLst>
            <p14:sldId id="256"/>
            <p14:sldId id="403"/>
            <p14:sldId id="399"/>
          </p14:sldIdLst>
        </p14:section>
        <p14:section name="Template slides" id="{4700659D-582D-3B47-8AF6-59C9324AA29A}">
          <p14:sldIdLst>
            <p14:sldId id="405"/>
            <p14:sldId id="2147478717"/>
            <p14:sldId id="406"/>
            <p14:sldId id="407"/>
            <p14:sldId id="410"/>
            <p14:sldId id="475"/>
            <p14:sldId id="507"/>
            <p14:sldId id="413"/>
            <p14:sldId id="411"/>
            <p14:sldId id="415"/>
            <p14:sldId id="440"/>
            <p14:sldId id="417"/>
            <p14:sldId id="427"/>
            <p14:sldId id="418"/>
            <p14:sldId id="2147478718"/>
            <p14:sldId id="428"/>
            <p14:sldId id="426"/>
            <p14:sldId id="477"/>
            <p14:sldId id="425"/>
            <p14:sldId id="509"/>
            <p14:sldId id="479"/>
            <p14:sldId id="510"/>
            <p14:sldId id="419"/>
            <p14:sldId id="414"/>
            <p14:sldId id="420"/>
            <p14:sldId id="511"/>
            <p14:sldId id="482"/>
            <p14:sldId id="512"/>
            <p14:sldId id="484"/>
            <p14:sldId id="513"/>
            <p14:sldId id="421"/>
            <p14:sldId id="514"/>
            <p14:sldId id="422"/>
            <p14:sldId id="2147478719"/>
            <p14:sldId id="516"/>
            <p14:sldId id="423"/>
            <p14:sldId id="488"/>
            <p14:sldId id="470"/>
            <p14:sldId id="441"/>
            <p14:sldId id="471"/>
            <p14:sldId id="433"/>
            <p14:sldId id="434"/>
            <p14:sldId id="469"/>
            <p14:sldId id="472"/>
            <p14:sldId id="438"/>
            <p14:sldId id="489"/>
            <p14:sldId id="439"/>
          </p14:sldIdLst>
        </p14:section>
        <p14:section name="Who is X-Force????" id="{9B58ACC0-2DBD-5D44-AD3F-E6C60A70B278}">
          <p14:sldIdLst>
            <p14:sldId id="2147478696"/>
          </p14:sldIdLst>
        </p14:section>
        <p14:section name="Pictograms, charts, + graphs" id="{A71DFE44-60A9-FA4A-8A00-EEDEE7195C5C}">
          <p14:sldIdLst>
            <p14:sldId id="523"/>
            <p14:sldId id="525"/>
            <p14:sldId id="526"/>
            <p14:sldId id="527"/>
            <p14:sldId id="528"/>
            <p14:sldId id="529"/>
            <p14:sldId id="524"/>
            <p14:sldId id="530"/>
            <p14:sldId id="531"/>
            <p14:sldId id="532"/>
            <p14:sldId id="533"/>
            <p14:sldId id="534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55"/>
            <p14:sldId id="456"/>
            <p14:sldId id="457"/>
            <p14:sldId id="464"/>
            <p14:sldId id="462"/>
            <p14:sldId id="465"/>
            <p14:sldId id="466"/>
            <p14:sldId id="498"/>
            <p14:sldId id="500"/>
            <p14:sldId id="499"/>
            <p14:sldId id="501"/>
            <p14:sldId id="502"/>
            <p14:sldId id="503"/>
            <p14:sldId id="504"/>
            <p14:sldId id="517"/>
            <p14:sldId id="518"/>
            <p14:sldId id="505"/>
            <p14:sldId id="214747871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F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67"/>
    <p:restoredTop sz="96327"/>
  </p:normalViewPr>
  <p:slideViewPr>
    <p:cSldViewPr snapToGrid="0" snapToObjects="1">
      <p:cViewPr varScale="1">
        <p:scale>
          <a:sx n="64" d="100"/>
          <a:sy n="64" d="100"/>
        </p:scale>
        <p:origin x="872" y="176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95" Type="http://schemas.openxmlformats.org/officeDocument/2006/relationships/commentAuthors" Target="commentAuthors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94" Type="http://schemas.openxmlformats.org/officeDocument/2006/relationships/handoutMaster" Target="handoutMasters/handoutMaster1.xml"/><Relationship Id="rId99" Type="http://schemas.openxmlformats.org/officeDocument/2006/relationships/tableStyles" Target="tableStyles.xml"/><Relationship Id="rId9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93" Type="http://schemas.openxmlformats.org/officeDocument/2006/relationships/notesMaster" Target="notesMasters/notesMaster1.xml"/><Relationship Id="rId98" Type="http://schemas.openxmlformats.org/officeDocument/2006/relationships/theme" Target="theme/theme1.xml"/>  <Relationship Id="rId100" Type="http://schemas.openxmlformats.org/officeDocument/2006/relationships/slide" Target="slides/slide91.xml"/>
  <Relationship Id="rId101" Type="http://schemas.openxmlformats.org/officeDocument/2006/relationships/slide" Target="slides/slide92.xml"/>
  <Relationship Id="rId102" Type="http://schemas.openxmlformats.org/officeDocument/2006/relationships/slide" Target="slides/slide93.xml"/>
  <Relationship Id="rId103" Type="http://schemas.openxmlformats.org/officeDocument/2006/relationships/slide" Target="slides/slide94.xml"/>
  <Relationship Id="rId104" Type="http://schemas.openxmlformats.org/officeDocument/2006/relationships/slide" Target="slides/slide95.xml"/>
  <Relationship Id="rId105" Type="http://schemas.openxmlformats.org/officeDocument/2006/relationships/slide" Target="slides/slide96.xml"/>
  <Relationship Id="rId106" Type="http://schemas.openxmlformats.org/officeDocument/2006/relationships/slide" Target="slides/slide97.xml"/>
  <Relationship Id="rId107" Type="http://schemas.openxmlformats.org/officeDocument/2006/relationships/slide" Target="slides/slide98.xml"/>
  <Relationship Id="rId108" Type="http://schemas.openxmlformats.org/officeDocument/2006/relationships/slide" Target="slides/slide99.xml"/>
  <Relationship Id="rId109" Type="http://schemas.openxmlformats.org/officeDocument/2006/relationships/slide" Target="slides/slide100.xml"/>
  <Relationship Id="rId110" Type="http://schemas.openxmlformats.org/officeDocument/2006/relationships/slide" Target="slides/slide101.xml"/>
  <Relationship Id="rId111" Type="http://schemas.openxmlformats.org/officeDocument/2006/relationships/slide" Target="slides/slide102.xml"/>
  <Relationship Id="rId112" Type="http://schemas.openxmlformats.org/officeDocument/2006/relationships/slide" Target="slides/slide103.xml"/>
  <Relationship Id="rId113" Type="http://schemas.openxmlformats.org/officeDocument/2006/relationships/slide" Target="slides/slide104.xml"/>
  <Relationship Id="rId114" Type="http://schemas.openxmlformats.org/officeDocument/2006/relationships/slide" Target="slides/slide105.xml"/>
  <Relationship Id="rId115" Type="http://schemas.openxmlformats.org/officeDocument/2006/relationships/slide" Target="slides/slide106.xml"/>
  <Relationship Id="rId116" Type="http://schemas.openxmlformats.org/officeDocument/2006/relationships/slide" Target="slides/slide107.xml"/>
  <Relationship Id="rId117" Type="http://schemas.openxmlformats.org/officeDocument/2006/relationships/slide" Target="slides/slide108.xml"/>
  <Relationship Id="rId118" Type="http://schemas.openxmlformats.org/officeDocument/2006/relationships/slide" Target="slides/slide109.xml"/>
  <Relationship Id="rId119" Type="http://schemas.openxmlformats.org/officeDocument/2006/relationships/slide" Target="slides/slide110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7175" cy="12001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6288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39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24387175" cy="1200150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39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CCD12723-D775-EE21-95A9-8E6D8BA4DC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/>
          <a:lstStyle>
            <a:lvl1pPr>
              <a:lnSpc>
                <a:spcPct val="100000"/>
              </a:lnSpc>
              <a:defRPr sz="8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45735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72" y="12463272"/>
            <a:ext cx="11050588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0101072" cy="10479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9" name="Picture 8" descr="IBM 8-bar logo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0099675" cy="9337675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5" y="569913"/>
            <a:ext cx="4949825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420624"/>
            <a:ext cx="17141825" cy="8191500"/>
          </a:xfrm>
        </p:spPr>
        <p:txBody>
          <a:bodyPr/>
          <a:lstStyle>
            <a:lvl1pPr>
              <a:defRPr sz="172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9909175" cy="28590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448056"/>
            <a:ext cx="11042073" cy="8574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20624"/>
            <a:ext cx="14662150" cy="9717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576072"/>
            <a:ext cx="7623175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" y="9299448"/>
            <a:ext cx="11050588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12193587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7620000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3500" y="9296400"/>
            <a:ext cx="11049000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29768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8"/>
            <a:ext cx="4951413" cy="967304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426481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429654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675" y="402336"/>
            <a:ext cx="4949825" cy="5335588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40233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675" y="6477000"/>
            <a:ext cx="4949825" cy="5334000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477000"/>
            <a:ext cx="11049000" cy="533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11480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000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187952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4381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8191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8403336"/>
            <a:ext cx="4951411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8572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9437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429000"/>
            <a:ext cx="0" cy="8572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4000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76353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429000"/>
            <a:ext cx="494212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1" y="3429000"/>
            <a:ext cx="4952999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2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5976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100996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45825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3000" cy="4573587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6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6" cy="4573587"/>
          </a:xfrm>
        </p:spPr>
        <p:txBody>
          <a:bodyPr rIns="0"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585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3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12188952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638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3638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0A530A6-2F26-DA70-D0D9-6DD90453CE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1141412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682496"/>
            <a:ext cx="5715000" cy="2276856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5024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 rIns="457200"/>
          <a:lstStyle>
            <a:lvl1pPr>
              <a:lnSpc>
                <a:spcPct val="11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69913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69913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976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69151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4" name="Straight Connector 23" descr="Vertical column divider">
            <a:extLst>
              <a:ext uri="{FF2B5EF4-FFF2-40B4-BE49-F238E27FC236}">
                <a16:creationId xmlns:a16="http://schemas.microsoft.com/office/drawing/2014/main" id="{B5CBE6E3-0E18-8A57-578D-D314948AF1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333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8" name="Straight Connector 27" descr="Vertical column divider">
            <a:extLst>
              <a:ext uri="{FF2B5EF4-FFF2-40B4-BE49-F238E27FC236}">
                <a16:creationId xmlns:a16="http://schemas.microsoft.com/office/drawing/2014/main" id="{52FF3B59-8BBA-8C99-9D4D-743723E434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7" name="Straight Connector 26" descr="Vertical column divider">
            <a:extLst>
              <a:ext uri="{FF2B5EF4-FFF2-40B4-BE49-F238E27FC236}">
                <a16:creationId xmlns:a16="http://schemas.microsoft.com/office/drawing/2014/main" id="{47200B05-7E36-4E03-3739-0BA9837646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0" y="7429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1" y="7429500"/>
            <a:ext cx="4951413" cy="379268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429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6665976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016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65151"/>
            <a:ext cx="17151350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8325" y="569913"/>
            <a:ext cx="23244175" cy="1258093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7" descr="Place bio portrait here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76072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 descr="Place bio portrait here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6072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 descr="Place bio portrait here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 descr="Place bio portrait here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757150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 descr="Place bio portrait here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757150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 descr="Place bio portrait here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757150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69913"/>
            <a:ext cx="17145000" cy="11431587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704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0477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60905" y="536448"/>
            <a:ext cx="11047390" cy="21457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2024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4885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7175" cy="12001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6288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39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57114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24387175" cy="1200150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39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CCD12723-D775-EE21-95A9-8E6D8BA4DC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461959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/>
          <a:lstStyle>
            <a:lvl1pPr>
              <a:lnSpc>
                <a:spcPct val="100000"/>
              </a:lnSpc>
              <a:defRPr sz="8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98052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45735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72" y="12463272"/>
            <a:ext cx="11050588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178675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0101072" cy="10479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9" name="Picture 8" descr="IBM 8-bar logo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497220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0099675" cy="9337675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610170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5" y="569913"/>
            <a:ext cx="4949825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208129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48439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420624"/>
            <a:ext cx="17141825" cy="8191500"/>
          </a:xfrm>
        </p:spPr>
        <p:txBody>
          <a:bodyPr/>
          <a:lstStyle>
            <a:lvl1pPr>
              <a:defRPr sz="172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52673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9909175" cy="28590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448056"/>
            <a:ext cx="11042073" cy="8574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83868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20624"/>
            <a:ext cx="14662150" cy="9717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83849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576072"/>
            <a:ext cx="7623175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" y="9299448"/>
            <a:ext cx="11050588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12193587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7620000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3500" y="9296400"/>
            <a:ext cx="11049000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428880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29768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8"/>
            <a:ext cx="4951413" cy="967304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426481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429654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32691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675" y="402336"/>
            <a:ext cx="4949825" cy="5335588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40233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675" y="6477000"/>
            <a:ext cx="4949825" cy="5334000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477000"/>
            <a:ext cx="11049000" cy="533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27299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11480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000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187952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4381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8191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8403336"/>
            <a:ext cx="4951411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8572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38353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50200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9437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429000"/>
            <a:ext cx="0" cy="8572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223023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06082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4000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76353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429000"/>
            <a:ext cx="494212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1" y="3429000"/>
            <a:ext cx="4952999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9026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2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5976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900296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100996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42072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45825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004773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3000" cy="4573587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39968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6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63589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6" cy="4573587"/>
          </a:xfrm>
        </p:spPr>
        <p:txBody>
          <a:bodyPr rIns="0"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585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19185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3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12188952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638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3638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94293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0A530A6-2F26-DA70-D0D9-6DD90453CE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84264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1141412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682496"/>
            <a:ext cx="5715000" cy="2276856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5024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499033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 rIns="457200"/>
          <a:lstStyle>
            <a:lvl1pPr>
              <a:lnSpc>
                <a:spcPct val="11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69913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69913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14531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91587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9104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976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69151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63616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4" name="Straight Connector 23" descr="Vertical column divider">
            <a:extLst>
              <a:ext uri="{FF2B5EF4-FFF2-40B4-BE49-F238E27FC236}">
                <a16:creationId xmlns:a16="http://schemas.microsoft.com/office/drawing/2014/main" id="{B5CBE6E3-0E18-8A57-578D-D314948AF1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333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8" name="Straight Connector 27" descr="Vertical column divider">
            <a:extLst>
              <a:ext uri="{FF2B5EF4-FFF2-40B4-BE49-F238E27FC236}">
                <a16:creationId xmlns:a16="http://schemas.microsoft.com/office/drawing/2014/main" id="{52FF3B59-8BBA-8C99-9D4D-743723E434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7" name="Straight Connector 26" descr="Vertical column divider">
            <a:extLst>
              <a:ext uri="{FF2B5EF4-FFF2-40B4-BE49-F238E27FC236}">
                <a16:creationId xmlns:a16="http://schemas.microsoft.com/office/drawing/2014/main" id="{47200B05-7E36-4E03-3739-0BA9837646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0" y="7429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1" y="7429500"/>
            <a:ext cx="4951413" cy="379268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429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46494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6665976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842178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016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94854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498557193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383569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65151"/>
            <a:ext cx="17151350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088168668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86934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8325" y="569913"/>
            <a:ext cx="23244175" cy="1258093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312362827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7" descr="Place bio portrait here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76072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 descr="Place bio portrait here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6072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 descr="Place bio portrait here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 descr="Place bio portrait here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757150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 descr="Place bio portrait here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757150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 descr="Place bio portrait here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757150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99824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69913"/>
            <a:ext cx="17145000" cy="11431587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32727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307539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704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33622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04775"/>
            <a:ext cx="4956176" cy="381000"/>
          </a:xfrm>
        </p:spPr>
        <p:txBody>
          <a:bodyPr/>
          <a:lstStyle/>
          <a:p>
            <a:r>
              <a:rPr lang="en-US"/>
              <a:t>© 2024 IBM Corporation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942909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12590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65.xml"/><Relationship Id="rId26" Type="http://schemas.openxmlformats.org/officeDocument/2006/relationships/slideLayout" Target="../slideLayouts/slideLayout73.xml"/><Relationship Id="rId39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68.xml"/><Relationship Id="rId34" Type="http://schemas.openxmlformats.org/officeDocument/2006/relationships/slideLayout" Target="../slideLayouts/slideLayout81.xml"/><Relationship Id="rId42" Type="http://schemas.openxmlformats.org/officeDocument/2006/relationships/slideLayout" Target="../slideLayouts/slideLayout89.xml"/><Relationship Id="rId47" Type="http://schemas.openxmlformats.org/officeDocument/2006/relationships/theme" Target="../theme/theme2.xml"/><Relationship Id="rId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63.xml"/><Relationship Id="rId29" Type="http://schemas.openxmlformats.org/officeDocument/2006/relationships/slideLayout" Target="../slideLayouts/slideLayout76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71.xml"/><Relationship Id="rId32" Type="http://schemas.openxmlformats.org/officeDocument/2006/relationships/slideLayout" Target="../slideLayouts/slideLayout79.xml"/><Relationship Id="rId37" Type="http://schemas.openxmlformats.org/officeDocument/2006/relationships/slideLayout" Target="../slideLayouts/slideLayout84.xml"/><Relationship Id="rId40" Type="http://schemas.openxmlformats.org/officeDocument/2006/relationships/slideLayout" Target="../slideLayouts/slideLayout87.xml"/><Relationship Id="rId45" Type="http://schemas.openxmlformats.org/officeDocument/2006/relationships/slideLayout" Target="../slideLayouts/slideLayout92.xml"/><Relationship Id="rId5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62.xml"/><Relationship Id="rId23" Type="http://schemas.openxmlformats.org/officeDocument/2006/relationships/slideLayout" Target="../slideLayouts/slideLayout70.xml"/><Relationship Id="rId28" Type="http://schemas.openxmlformats.org/officeDocument/2006/relationships/slideLayout" Target="../slideLayouts/slideLayout75.xml"/><Relationship Id="rId36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57.xml"/><Relationship Id="rId19" Type="http://schemas.openxmlformats.org/officeDocument/2006/relationships/slideLayout" Target="../slideLayouts/slideLayout66.xml"/><Relationship Id="rId31" Type="http://schemas.openxmlformats.org/officeDocument/2006/relationships/slideLayout" Target="../slideLayouts/slideLayout78.xml"/><Relationship Id="rId44" Type="http://schemas.openxmlformats.org/officeDocument/2006/relationships/slideLayout" Target="../slideLayouts/slideLayout91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Relationship Id="rId22" Type="http://schemas.openxmlformats.org/officeDocument/2006/relationships/slideLayout" Target="../slideLayouts/slideLayout69.xml"/><Relationship Id="rId27" Type="http://schemas.openxmlformats.org/officeDocument/2006/relationships/slideLayout" Target="../slideLayouts/slideLayout74.xml"/><Relationship Id="rId30" Type="http://schemas.openxmlformats.org/officeDocument/2006/relationships/slideLayout" Target="../slideLayouts/slideLayout77.xml"/><Relationship Id="rId35" Type="http://schemas.openxmlformats.org/officeDocument/2006/relationships/slideLayout" Target="../slideLayouts/slideLayout82.xml"/><Relationship Id="rId43" Type="http://schemas.openxmlformats.org/officeDocument/2006/relationships/slideLayout" Target="../slideLayouts/slideLayout90.xml"/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4.xml"/><Relationship Id="rId25" Type="http://schemas.openxmlformats.org/officeDocument/2006/relationships/slideLayout" Target="../slideLayouts/slideLayout72.xml"/><Relationship Id="rId33" Type="http://schemas.openxmlformats.org/officeDocument/2006/relationships/slideLayout" Target="../slideLayouts/slideLayout80.xml"/><Relationship Id="rId38" Type="http://schemas.openxmlformats.org/officeDocument/2006/relationships/slideLayout" Target="../slideLayouts/slideLayout85.xml"/><Relationship Id="rId46" Type="http://schemas.openxmlformats.org/officeDocument/2006/relationships/slideLayout" Target="../slideLayouts/slideLayout93.xml"/><Relationship Id="rId20" Type="http://schemas.openxmlformats.org/officeDocument/2006/relationships/slideLayout" Target="../slideLayouts/slideLayout67.xml"/><Relationship Id="rId41" Type="http://schemas.openxmlformats.org/officeDocument/2006/relationships/slideLayout" Target="../slideLayouts/slideLayout8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390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66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04" r:id="rId3"/>
    <p:sldLayoutId id="2147483905" r:id="rId4"/>
    <p:sldLayoutId id="2147483901" r:id="rId5"/>
    <p:sldLayoutId id="2147483692" r:id="rId6"/>
    <p:sldLayoutId id="2147483906" r:id="rId7"/>
    <p:sldLayoutId id="2147483907" r:id="rId8"/>
    <p:sldLayoutId id="2147483910" r:id="rId9"/>
    <p:sldLayoutId id="2147483908" r:id="rId10"/>
    <p:sldLayoutId id="2147483909" r:id="rId11"/>
    <p:sldLayoutId id="2147483912" r:id="rId12"/>
    <p:sldLayoutId id="2147483914" r:id="rId13"/>
    <p:sldLayoutId id="2147483915" r:id="rId14"/>
    <p:sldLayoutId id="2147483913" r:id="rId15"/>
    <p:sldLayoutId id="2147483917" r:id="rId16"/>
    <p:sldLayoutId id="2147483942" r:id="rId17"/>
    <p:sldLayoutId id="2147483919" r:id="rId18"/>
    <p:sldLayoutId id="2147483929" r:id="rId19"/>
    <p:sldLayoutId id="2147483920" r:id="rId20"/>
    <p:sldLayoutId id="2147483930" r:id="rId21"/>
    <p:sldLayoutId id="2147483928" r:id="rId22"/>
    <p:sldLayoutId id="2147483948" r:id="rId23"/>
    <p:sldLayoutId id="2147483927" r:id="rId24"/>
    <p:sldLayoutId id="2147483950" r:id="rId25"/>
    <p:sldLayoutId id="2147483921" r:id="rId26"/>
    <p:sldLayoutId id="2147483916" r:id="rId27"/>
    <p:sldLayoutId id="2147483922" r:id="rId28"/>
    <p:sldLayoutId id="2147483953" r:id="rId29"/>
    <p:sldLayoutId id="2147483956" r:id="rId30"/>
    <p:sldLayoutId id="2147483923" r:id="rId31"/>
    <p:sldLayoutId id="2147483924" r:id="rId32"/>
    <p:sldLayoutId id="2147483926" r:id="rId33"/>
    <p:sldLayoutId id="2147483925" r:id="rId34"/>
    <p:sldLayoutId id="2147483959" r:id="rId35"/>
    <p:sldLayoutId id="2147483937" r:id="rId36"/>
    <p:sldLayoutId id="2147483932" r:id="rId37"/>
    <p:sldLayoutId id="2147483934" r:id="rId38"/>
    <p:sldLayoutId id="2147483935" r:id="rId39"/>
    <p:sldLayoutId id="2147483936" r:id="rId40"/>
    <p:sldLayoutId id="2147483938" r:id="rId41"/>
    <p:sldLayoutId id="2147483939" r:id="rId42"/>
    <p:sldLayoutId id="2147483940" r:id="rId43"/>
    <p:sldLayoutId id="2147483943" r:id="rId44"/>
    <p:sldLayoutId id="2147483960" r:id="rId45"/>
    <p:sldLayoutId id="2147483941" r:id="rId46"/>
    <p:sldLayoutId id="2147483964" r:id="rId47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 userDrawn="1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390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66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9144269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7" r:id="rId1"/>
    <p:sldLayoutId id="2147483968" r:id="rId2"/>
    <p:sldLayoutId id="2147483969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  <p:sldLayoutId id="2147483978" r:id="rId12"/>
    <p:sldLayoutId id="2147483979" r:id="rId13"/>
    <p:sldLayoutId id="2147483980" r:id="rId14"/>
    <p:sldLayoutId id="2147483981" r:id="rId15"/>
    <p:sldLayoutId id="2147483982" r:id="rId16"/>
    <p:sldLayoutId id="2147483983" r:id="rId17"/>
    <p:sldLayoutId id="2147483984" r:id="rId18"/>
    <p:sldLayoutId id="2147483985" r:id="rId19"/>
    <p:sldLayoutId id="2147483986" r:id="rId20"/>
    <p:sldLayoutId id="2147483987" r:id="rId21"/>
    <p:sldLayoutId id="2147483988" r:id="rId22"/>
    <p:sldLayoutId id="2147483989" r:id="rId23"/>
    <p:sldLayoutId id="2147483990" r:id="rId24"/>
    <p:sldLayoutId id="2147483991" r:id="rId25"/>
    <p:sldLayoutId id="2147483992" r:id="rId26"/>
    <p:sldLayoutId id="2147483993" r:id="rId27"/>
    <p:sldLayoutId id="2147483994" r:id="rId28"/>
    <p:sldLayoutId id="2147483995" r:id="rId29"/>
    <p:sldLayoutId id="2147483996" r:id="rId30"/>
    <p:sldLayoutId id="2147483997" r:id="rId31"/>
    <p:sldLayoutId id="2147483998" r:id="rId32"/>
    <p:sldLayoutId id="2147483999" r:id="rId33"/>
    <p:sldLayoutId id="2147484000" r:id="rId34"/>
    <p:sldLayoutId id="2147484001" r:id="rId35"/>
    <p:sldLayoutId id="2147484002" r:id="rId36"/>
    <p:sldLayoutId id="2147484003" r:id="rId37"/>
    <p:sldLayoutId id="2147484004" r:id="rId38"/>
    <p:sldLayoutId id="2147484005" r:id="rId39"/>
    <p:sldLayoutId id="2147484006" r:id="rId40"/>
    <p:sldLayoutId id="2147484007" r:id="rId41"/>
    <p:sldLayoutId id="2147484008" r:id="rId42"/>
    <p:sldLayoutId id="2147484009" r:id="rId43"/>
    <p:sldLayoutId id="2147484010" r:id="rId44"/>
    <p:sldLayoutId id="2147484011" r:id="rId45"/>
    <p:sldLayoutId id="2147484012" r:id="rId46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93.xml.rels><?xml version="1.0" encoding="UTF-8" standalone="yes"?>
<Relationships xmlns="http://schemas.openxmlformats.org/package/2006/relationships"><Relationship Id="rId3" Type="http://schemas.openxmlformats.org/officeDocument/2006/relationships/image" Target="../media/image415.emf"/><Relationship Id="rId2" Type="http://schemas.openxmlformats.org/officeDocument/2006/relationships/image" Target="../media/image414.emf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418.emf"/><Relationship Id="rId5" Type="http://schemas.openxmlformats.org/officeDocument/2006/relationships/image" Target="../media/image417.emf"/><Relationship Id="rId4" Type="http://schemas.openxmlformats.org/officeDocument/2006/relationships/image" Target="../media/image416.emf"/></Relationships>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66D4D-1F4F-F3FC-EECF-1A8DC7193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BAEF2C0-B8C4-2FFD-DE37-2F92A1EA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69" y="696282"/>
            <a:ext cx="11050589" cy="4573587"/>
          </a:xfrm>
        </p:spPr>
        <p:txBody>
          <a:bodyPr/>
          <a:lstStyle/>
          <a:p>
            <a:r>
              <a:rPr lang="en-US" sz="8600" dirty="0"/>
              <a:t>Ventra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A3A1B3-6D24-8B0F-4431-081CADC5EC72}"/>
              </a:ext>
            </a:extLst>
          </p:cNvPr>
          <p:cNvSpPr txBox="1"/>
          <p:nvPr/>
        </p:nvSpPr>
        <p:spPr>
          <a:xfrm>
            <a:off x="874644" y="12383201"/>
            <a:ext cx="5963478" cy="13574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IBM X-Force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5C3229-EC6A-36A4-B1F0-E67D9533AC2F}"/>
              </a:ext>
            </a:extLst>
          </p:cNvPr>
          <p:cNvSpPr txBox="1"/>
          <p:nvPr/>
        </p:nvSpPr>
        <p:spPr>
          <a:xfrm>
            <a:off x="553769" y="3975653"/>
            <a:ext cx="9000000" cy="536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32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Cloud forensics &amp; incident response triage tool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5F8B6A-8580-062C-1DB3-E163BF1E4E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140669972"/>
      </p:ext>
    </p:extLst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374C6-6622-EAD6-AF33-02B206106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Ventra does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A1201-23DA-79C3-771B-5D327E6B4A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42935" y="384048"/>
            <a:ext cx="11042073" cy="8574087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</a:pPr>
            <a:r>
              <a:rPr lang="en-US" sz="5600" dirty="0">
                <a:solidFill>
                  <a:schemeClr val="tx1"/>
                </a:solidFill>
              </a:rPr>
              <a:t>One console to acquire, verify, and investigate evidence across every cloud you run.</a:t>
            </a:r>
            <a:br>
              <a:rPr lang="en-US" dirty="0"/>
            </a:br>
            <a:br>
              <a:rPr lang="en-US" sz="2800" dirty="0"/>
            </a:br>
            <a:r>
              <a:rPr lang="en-US" sz="2800" dirty="0"/>
              <a:t>Built for incident responders working across AWS, Azure, GCP, and Kubernetes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F5F25-A5DF-E60A-5734-74C01EEFC06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© 2024 IBM Corporation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F99D30BA-A01D-314D-AAA5-0209F97AE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5FB3-9C97-154F-86B2-7E381B951268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IBM Plex Sans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3609196393"/>
      </p:ext>
    </p:extLst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B215F-028F-B3A1-0731-93B44FE0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Ventra works</a:t>
            </a:r>
            <a:br>
              <a:rPr lang="en-US"/>
            </a:br>
            <a:endParaRPr lang="en-US"/>
          </a:p>
        </p:txBody>
      </p:sp>
      <p:grpSp>
        <p:nvGrpSpPr>
          <p:cNvPr id="17" name="Group 16" descr="Sample flow diagram with labeled pictogram nodes with color fills">
            <a:extLst>
              <a:ext uri="{FF2B5EF4-FFF2-40B4-BE49-F238E27FC236}">
                <a16:creationId xmlns:a16="http://schemas.microsoft.com/office/drawing/2014/main" id="{DBAC2340-E1B5-E417-E587-193F05149237}"/>
              </a:ext>
            </a:extLst>
          </p:cNvPr>
          <p:cNvGrpSpPr/>
          <p:nvPr/>
        </p:nvGrpSpPr>
        <p:grpSpPr>
          <a:xfrm>
            <a:off x="568325" y="2478024"/>
            <a:ext cx="22482175" cy="9142476"/>
            <a:chOff x="568325" y="2478024"/>
            <a:chExt cx="22482175" cy="9142476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175B6FE-F600-B362-4624-1409CE38C913}"/>
                </a:ext>
              </a:extLst>
            </p:cNvPr>
            <p:cNvCxnSpPr>
              <a:cxnSpLocks/>
              <a:endCxn id="10" idx="2"/>
            </p:cNvCxnSpPr>
            <p:nvPr/>
          </p:nvCxnSpPr>
          <p:spPr bwMode="auto">
            <a:xfrm>
              <a:off x="18288000" y="5909310"/>
              <a:ext cx="228600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arrow" w="lg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059DA85-5714-02B0-CA78-3171FDC0578F}"/>
                </a:ext>
              </a:extLst>
            </p:cNvPr>
            <p:cNvCxnSpPr>
              <a:cxnSpLocks/>
              <a:stCxn id="7" idx="6"/>
            </p:cNvCxnSpPr>
            <p:nvPr/>
          </p:nvCxnSpPr>
          <p:spPr bwMode="auto">
            <a:xfrm>
              <a:off x="9921240" y="5909310"/>
              <a:ext cx="227076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lg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B89093B-CD92-3B3A-E61F-AC7ED5A6BDA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192000" y="3238500"/>
              <a:ext cx="0" cy="5769864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3AF378C-33DF-DA13-5B60-60BBB56CFC0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192000" y="3238500"/>
              <a:ext cx="2282952" cy="3048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arrow" w="lg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8B1DDFD-C64D-8B71-4381-B8B0127D126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192000" y="9008364"/>
              <a:ext cx="2282952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arrow" w="lg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AF10B07-B5DD-704F-1238-A978D74940D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289587" y="3238500"/>
              <a:ext cx="0" cy="5769864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401AA02-04B6-3A3F-72FF-DCDD7578DCF6}"/>
                </a:ext>
              </a:extLst>
            </p:cNvPr>
            <p:cNvSpPr/>
            <p:nvPr/>
          </p:nvSpPr>
          <p:spPr bwMode="auto">
            <a:xfrm>
              <a:off x="568325" y="5145786"/>
              <a:ext cx="1527048" cy="1527048"/>
            </a:xfrm>
            <a:prstGeom prst="ellipse">
              <a:avLst/>
            </a:prstGeom>
            <a:solidFill>
              <a:srgbClr val="E5F6FF"/>
            </a:solidFill>
            <a:ln w="19050"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BC8AFE6-38C9-5DE6-29FF-C99862CE813E}"/>
                </a:ext>
              </a:extLst>
            </p:cNvPr>
            <p:cNvSpPr/>
            <p:nvPr/>
          </p:nvSpPr>
          <p:spPr bwMode="auto">
            <a:xfrm>
              <a:off x="4572000" y="5145786"/>
              <a:ext cx="1527048" cy="1527048"/>
            </a:xfrm>
            <a:prstGeom prst="ellipse">
              <a:avLst/>
            </a:prstGeom>
            <a:solidFill>
              <a:srgbClr val="E5F6FF"/>
            </a:solidFill>
            <a:ln w="19050"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499D6EB-214C-2D21-86F1-B6FBA128EE8F}"/>
                </a:ext>
              </a:extLst>
            </p:cNvPr>
            <p:cNvSpPr/>
            <p:nvPr/>
          </p:nvSpPr>
          <p:spPr bwMode="auto">
            <a:xfrm>
              <a:off x="8394192" y="5145786"/>
              <a:ext cx="1527048" cy="152704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50F0DD7-7A73-09CB-74A6-E6B71431FB67}"/>
                </a:ext>
              </a:extLst>
            </p:cNvPr>
            <p:cNvSpPr/>
            <p:nvPr/>
          </p:nvSpPr>
          <p:spPr bwMode="auto">
            <a:xfrm>
              <a:off x="14474952" y="2478024"/>
              <a:ext cx="1527048" cy="1527048"/>
            </a:xfrm>
            <a:prstGeom prst="ellipse">
              <a:avLst/>
            </a:prstGeom>
            <a:solidFill>
              <a:srgbClr val="1192E8"/>
            </a:solidFill>
            <a:ln w="19050">
              <a:solidFill>
                <a:srgbClr val="1192E8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1C29C40-600D-0FC0-C0DB-A6D0DA851FB1}"/>
                </a:ext>
              </a:extLst>
            </p:cNvPr>
            <p:cNvSpPr/>
            <p:nvPr/>
          </p:nvSpPr>
          <p:spPr bwMode="auto">
            <a:xfrm>
              <a:off x="14474952" y="8244508"/>
              <a:ext cx="1527048" cy="1527048"/>
            </a:xfrm>
            <a:prstGeom prst="ellipse">
              <a:avLst/>
            </a:prstGeom>
            <a:solidFill>
              <a:srgbClr val="0043CE"/>
            </a:solidFill>
            <a:ln w="19050">
              <a:solidFill>
                <a:srgbClr val="FA4D56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413DD86-BF6E-C278-FE76-859F694A7028}"/>
                </a:ext>
              </a:extLst>
            </p:cNvPr>
            <p:cNvSpPr/>
            <p:nvPr/>
          </p:nvSpPr>
          <p:spPr bwMode="auto">
            <a:xfrm>
              <a:off x="20574000" y="5145786"/>
              <a:ext cx="1527048" cy="1527048"/>
            </a:xfrm>
            <a:prstGeom prst="ellipse">
              <a:avLst/>
            </a:prstGeom>
            <a:solidFill>
              <a:srgbClr val="E5F6FF"/>
            </a:solidFill>
            <a:ln w="19050"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4380C37-ED0C-FF93-59DA-2B08112E5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5449" y="5500624"/>
              <a:ext cx="812800" cy="8128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DFE9E64-DB76-F1E5-A5A7-92AC8E0D6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9124" y="5505196"/>
              <a:ext cx="812800" cy="8128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17E5ABD-42B7-8C52-166C-D96DC7A9A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51316" y="5505196"/>
              <a:ext cx="812800" cy="8128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2F858AE-68FA-FBAC-91CC-6901103A2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832076" y="2835148"/>
              <a:ext cx="812800" cy="8128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F3F7B2B-FB0B-5025-F56B-565853663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832076" y="8581754"/>
              <a:ext cx="812800" cy="8128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15A398-73CD-6798-E87C-376947242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931124" y="5500624"/>
              <a:ext cx="812800" cy="812800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D789395-BE00-BED1-C609-DF9AAF26C2D1}"/>
                </a:ext>
              </a:extLst>
            </p:cNvPr>
            <p:cNvSpPr txBox="1"/>
            <p:nvPr/>
          </p:nvSpPr>
          <p:spPr>
            <a:xfrm>
              <a:off x="568325" y="7048500"/>
              <a:ext cx="2473325" cy="15240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defTabSz="2438400">
                <a:lnSpc>
                  <a:spcPct val="110000"/>
                </a:lnSpc>
                <a:buSzPct val="100000"/>
              </a:pPr>
              <a:r>
                <a:rPr lang="en-US" sz="2000">
                  <a:latin typeface="IBM Plex Sans" panose="020B0503050203000203" pitchFamily="34" charset="0"/>
                </a:rPr>
                <a:t>AWS — CloudTrail, S3, GuardDuty</a:t>
              </a:r>
            </a:p>
            <a:p>
              <a:pPr algn="l" defTabSz="2438400">
                <a:lnSpc>
                  <a:spcPct val="110000"/>
                </a:lnSpc>
                <a:buSzPct val="100000"/>
              </a:pPr>
              <a:endParaRPr lang="en-US" sz="2000" kern="0">
                <a:solidFill>
                  <a:srgbClr val="000000"/>
                </a:solidFill>
                <a:latin typeface="IBM Plex Sans" panose="020B0503050203000203" pitchFamily="34" charset="0"/>
                <a:ea typeface="+mj-ea"/>
                <a:cs typeface="+mj-cs"/>
                <a:sym typeface="IBM Plex Sans Light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8EA7563-11F6-5C43-8BF2-65977051C2C5}"/>
                </a:ext>
              </a:extLst>
            </p:cNvPr>
            <p:cNvSpPr txBox="1"/>
            <p:nvPr/>
          </p:nvSpPr>
          <p:spPr>
            <a:xfrm>
              <a:off x="4575175" y="7048500"/>
              <a:ext cx="2473325" cy="15240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defTabSz="2438400">
                <a:lnSpc>
                  <a:spcPct val="110000"/>
                </a:lnSpc>
                <a:buSzPct val="100000"/>
              </a:pPr>
              <a:r>
                <a:rPr lang="en-US" sz="2000">
                  <a:latin typeface="IBM Plex Sans" panose="020B0503050203000203" pitchFamily="34" charset="0"/>
                </a:rPr>
                <a:t>Azure — Activity Log, Entra ID, Defender for Cloud</a:t>
              </a:r>
            </a:p>
            <a:p>
              <a:pPr algn="l" defTabSz="2438400">
                <a:lnSpc>
                  <a:spcPct val="110000"/>
                </a:lnSpc>
                <a:buSzPct val="100000"/>
              </a:pPr>
              <a:endParaRPr lang="en-US" sz="2000" kern="0">
                <a:solidFill>
                  <a:srgbClr val="000000"/>
                </a:solidFill>
                <a:latin typeface="IBM Plex Sans" panose="020B0503050203000203" pitchFamily="34" charset="0"/>
                <a:ea typeface="+mj-ea"/>
                <a:cs typeface="+mj-cs"/>
                <a:sym typeface="IBM Plex Sans Light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B350DBF-EB2E-88BF-CA22-8766893BDE6A}"/>
                </a:ext>
              </a:extLst>
            </p:cNvPr>
            <p:cNvSpPr txBox="1"/>
            <p:nvPr/>
          </p:nvSpPr>
          <p:spPr>
            <a:xfrm>
              <a:off x="8385175" y="7048500"/>
              <a:ext cx="2473325" cy="15240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defTabSz="2438400">
                <a:lnSpc>
                  <a:spcPct val="110000"/>
                </a:lnSpc>
                <a:buSzPct val="100000"/>
              </a:pPr>
              <a:r>
                <a:rPr lang="en-US" sz="2000">
                  <a:latin typeface="IBM Plex Sans" panose="020B0503050203000203" pitchFamily="34" charset="0"/>
                </a:rPr>
                <a:t>GCP — Audit Logs, GCS, Security Command Center</a:t>
              </a:r>
            </a:p>
            <a:p>
              <a:pPr algn="l" defTabSz="2438400">
                <a:lnSpc>
                  <a:spcPct val="110000"/>
                </a:lnSpc>
                <a:buSzPct val="100000"/>
              </a:pPr>
              <a:endParaRPr lang="en-US" sz="2000" kern="0">
                <a:solidFill>
                  <a:srgbClr val="000000"/>
                </a:solidFill>
                <a:latin typeface="IBM Plex Sans" panose="020B0503050203000203" pitchFamily="34" charset="0"/>
                <a:ea typeface="+mj-ea"/>
                <a:cs typeface="+mj-cs"/>
                <a:sym typeface="IBM Plex Sans Light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74D5C19-4D15-C468-8B49-43FF8BC96D0E}"/>
                </a:ext>
              </a:extLst>
            </p:cNvPr>
            <p:cNvSpPr txBox="1"/>
            <p:nvPr/>
          </p:nvSpPr>
          <p:spPr>
            <a:xfrm>
              <a:off x="14481175" y="10096500"/>
              <a:ext cx="2473325" cy="15240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defTabSz="2438400">
                <a:lnSpc>
                  <a:spcPct val="110000"/>
                </a:lnSpc>
                <a:buSzPct val="100000"/>
              </a:pPr>
              <a:r>
                <a:rPr lang="en-US" sz="2000">
                  <a:latin typeface="IBM Plex Sans" panose="020B0503050203000203" pitchFamily="34" charset="0"/>
                </a:rPr>
                <a:t>Collector Engine — acquires and hashes evidence</a:t>
              </a:r>
            </a:p>
            <a:p>
              <a:pPr algn="l" defTabSz="2438400">
                <a:lnSpc>
                  <a:spcPct val="110000"/>
                </a:lnSpc>
                <a:buSzPct val="100000"/>
              </a:pPr>
              <a:endParaRPr lang="en-US" sz="2000" kern="0">
                <a:solidFill>
                  <a:srgbClr val="000000"/>
                </a:solidFill>
                <a:latin typeface="IBM Plex Sans" panose="020B0503050203000203" pitchFamily="34" charset="0"/>
                <a:ea typeface="+mj-ea"/>
                <a:cs typeface="+mj-cs"/>
                <a:sym typeface="IBM Plex Sans Light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DB8C4EF-A6E6-8EC5-AAB3-6DF5EDD02252}"/>
                </a:ext>
              </a:extLst>
            </p:cNvPr>
            <p:cNvSpPr txBox="1"/>
            <p:nvPr/>
          </p:nvSpPr>
          <p:spPr>
            <a:xfrm>
              <a:off x="14481175" y="4381500"/>
              <a:ext cx="2473325" cy="15240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defTabSz="2438400">
                <a:lnSpc>
                  <a:spcPct val="110000"/>
                </a:lnSpc>
                <a:buSzPct val="100000"/>
              </a:pPr>
              <a:r>
                <a:rPr lang="en-US" sz="2000">
                  <a:latin typeface="IBM Plex Sans" panose="020B0503050203000203" pitchFamily="34" charset="0"/>
                </a:rPr>
                <a:t>Ingester Pipeline — verifies, normalizes, enriches</a:t>
              </a:r>
            </a:p>
            <a:p>
              <a:pPr algn="l" defTabSz="2438400">
                <a:lnSpc>
                  <a:spcPct val="110000"/>
                </a:lnSpc>
                <a:buSzPct val="100000"/>
              </a:pPr>
              <a:endParaRPr lang="en-US" sz="2000" kern="0">
                <a:solidFill>
                  <a:srgbClr val="000000"/>
                </a:solidFill>
                <a:latin typeface="IBM Plex Sans" panose="020B0503050203000203" pitchFamily="34" charset="0"/>
                <a:ea typeface="+mj-ea"/>
                <a:cs typeface="+mj-cs"/>
                <a:sym typeface="IBM Plex Sans Light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BCE1BD5-BBB7-6C8D-EADF-B66A5F42D48E}"/>
                </a:ext>
              </a:extLst>
            </p:cNvPr>
            <p:cNvSpPr txBox="1"/>
            <p:nvPr/>
          </p:nvSpPr>
          <p:spPr>
            <a:xfrm>
              <a:off x="20574000" y="7048500"/>
              <a:ext cx="2476500" cy="15240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rtlCol="0">
              <a:noAutofit/>
            </a:bodyPr>
            <a:lstStyle/>
            <a:p>
              <a:pPr defTabSz="2438400">
                <a:lnSpc>
                  <a:spcPct val="110000"/>
                </a:lnSpc>
                <a:buSzPct val="100000"/>
              </a:pPr>
              <a:r>
                <a:rPr lang="en-US" sz="2000">
                  <a:latin typeface="IBM Plex Sans" panose="020B0503050203000203" pitchFamily="34" charset="0"/>
                </a:rPr>
                <a:t>Case Workspace — investigate and export</a:t>
              </a:r>
            </a:p>
            <a:p>
              <a:pPr algn="l" defTabSz="2438400">
                <a:lnSpc>
                  <a:spcPct val="110000"/>
                </a:lnSpc>
                <a:buSzPct val="100000"/>
              </a:pPr>
              <a:endParaRPr lang="en-US" sz="2000" kern="0">
                <a:solidFill>
                  <a:srgbClr val="000000"/>
                </a:solidFill>
                <a:latin typeface="IBM Plex Sans" panose="020B0503050203000203" pitchFamily="34" charset="0"/>
                <a:ea typeface="+mj-ea"/>
                <a:cs typeface="+mj-cs"/>
                <a:sym typeface="IBM Plex Sans Light"/>
              </a:endParaRP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0C88D88-9BD3-36E8-2268-CB183C3F44D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6002000" y="3238500"/>
              <a:ext cx="2286000" cy="3048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139CEC7-4790-CF80-71C9-A2C8B70388B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6002000" y="9008364"/>
              <a:ext cx="228600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EDDCCBC-0EF5-CE1C-15C9-3C27530DF90D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 bwMode="auto">
            <a:xfrm>
              <a:off x="6099048" y="5909310"/>
              <a:ext cx="2295144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arrow" w="lg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97971C9-0E5A-5F8E-0BB8-D6E318860E5E}"/>
                </a:ext>
              </a:extLst>
            </p:cNvPr>
            <p:cNvCxnSpPr>
              <a:cxnSpLocks/>
              <a:stCxn id="5" idx="6"/>
              <a:endCxn id="6" idx="2"/>
            </p:cNvCxnSpPr>
            <p:nvPr/>
          </p:nvCxnSpPr>
          <p:spPr bwMode="auto">
            <a:xfrm>
              <a:off x="2095373" y="5909310"/>
              <a:ext cx="2476627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arrow" w="lg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4D27BC01-43A2-63A2-BE89-C5532013DA84}"/>
              </a:ext>
            </a:extLst>
          </p:cNvPr>
          <p:cNvSpPr txBox="1">
            <a:spLocks/>
          </p:cNvSpPr>
          <p:nvPr/>
        </p:nvSpPr>
        <p:spPr>
          <a:xfrm>
            <a:off x="576072" y="11950000"/>
            <a:ext cx="19000000" cy="5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/>
          <a:lstStyle>
            <a:lvl1pPr marL="0" marR="0" indent="0" algn="l" defTabSz="2438400" rtl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latinLnBrk="0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latinLnBrk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latinLnBrk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latinLnBrk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latinLnBrk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>
              <a:lnSpc>
                <a:spcPct val="100000"/>
              </a:lnSpc>
            </a:pPr>
            <a:r>
              <a:rPr lang="en-US" kern="0"/>
              <a:t>Every artifact is hashed and signed at acquisition — chain of custody holds from collection to case.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008FF2-34E1-9034-EECC-BABA2C24A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55959" y="12926828"/>
            <a:ext cx="256541" cy="254001"/>
          </a:xfrm>
        </p:spPr>
        <p:txBody>
          <a:bodyPr/>
          <a:lstStyle/>
          <a:p>
            <a:fld id="{86CB4B4D-7CA3-9044-876B-883B54F8677D}" type="slidenum">
              <a:rPr lang="en-US" smtClean="0"/>
              <a:t>77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28094542-E079-C082-59E5-F08DDED368A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597337644"/>
      </p:ext>
    </p:extLst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52BC-A31A-3AFD-FA62-5B081B61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1F429-A819-1589-FBA7-B0AB71D7DF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The entry point into every investigation. Create a case, import a sealed evidence package, and track it from acquisition through report.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0F604-0481-AD77-9049-C690DC1A44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rPr lang="en-US" b="1" dirty="0"/>
              <a:t>Create &amp; browse cases</a:t>
            </a:r>
            <a:r>
              <a:rPr lang="en-US" dirty="0"/>
              <a:t> — one workspace per investigation</a:t>
            </a:r>
          </a:p>
          <a:p>
            <a:pPr>
              <a:spcBef>
                <a:spcPts val="1400"/>
              </a:spcBef>
            </a:pPr>
            <a:r>
              <a:rPr lang="en-US" b="1" dirty="0"/>
              <a:t>Import evidence</a:t>
            </a:r>
            <a:r>
              <a:rPr lang="en-US" dirty="0"/>
              <a:t> — sealed .tar.zst packages, including direct from S3</a:t>
            </a:r>
          </a:p>
          <a:p>
            <a:pPr>
              <a:spcBef>
                <a:spcPts val="1400"/>
              </a:spcBef>
            </a:pPr>
            <a:r>
              <a:rPr lang="en-US" b="1" dirty="0"/>
              <a:t>Case overview</a:t>
            </a:r>
            <a:r>
              <a:rPr lang="en-US" dirty="0"/>
              <a:t> — status, summary stats, and timeline at a glance</a:t>
            </a:r>
          </a:p>
        </p:txBody>
      </p:sp>
      <p:sp>
        <p:nvSpPr>
          <p:cNvPr id="7" name="Picture Placeholder 10" descr="Place imagery here">
            <a:extLst>
              <a:ext uri="{FF2B5EF4-FFF2-40B4-BE49-F238E27FC236}">
                <a16:creationId xmlns:a16="http://schemas.microsoft.com/office/drawing/2014/main" id="{77A7CC8A-F8D4-01B6-C299-15983476AE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pPr algn="ctr"/>
            <a:r>
              <a:rPr lang="en-US" sz="2400" b="1" dirty="0">
                <a:solidFill>
                  <a:srgbClr val="6F6F6F"/>
                </a:solidFill>
              </a:rPr>
              <a:t>Screenshot — Cases list view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75C6E-9935-614F-FDDF-F1F6697CD61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© 2024 IBM Corporation</a:t>
            </a:r>
          </a:p>
        </p:txBody>
      </p:sp>
      <p:sp>
        <p:nvSpPr>
          <p:cNvPr id="601" name="Screenshot Caption"/>
          <p:cNvSpPr txBox="1"/>
          <p:nvPr/>
        </p:nvSpPr>
        <p:spPr>
          <a:xfrm>
            <a:off x="13563500" y="6600000"/>
            <a:ext cx="9449000" cy="14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2400" b="1" dirty="0">
                <a:solidFill>
                  <a:srgbClr val="6F6F6F"/>
                </a:solidFill>
              </a:rPr>
              <a:t>Screenshot — Cases list view</a:t>
            </a:r>
          </a:p>
        </p:txBody>
      </p:sp>
    </p:spTree>
    <p:extLst>
      <p:ext uri="{BB962C8B-B14F-4D97-AF65-F5344CB8AC3E}">
        <p14:creationId xmlns:p14="http://schemas.microsoft.com/office/powerpoint/2010/main" val="579239392"/>
      </p:ext>
    </p:extLst>
  </p:cSld>
  <p:clrMapOvr>
    <a:masterClrMapping/>
  </p:clrMapOvr>
  <p:transition spd="med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606A6AD9-835A-736F-B5CB-6F76193BF3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6FECC9-C6AE-DAE3-578B-05CFDA6EC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IBM Plex Sans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IBM Plex Sans"/>
            </a:endParaRPr>
          </a:p>
        </p:txBody>
      </p:sp>
      <p:sp>
        <p:nvSpPr>
          <p:cNvPr id="501" name="Play Button"/>
          <p:cNvSpPr/>
          <p:nvPr/>
        </p:nvSpPr>
        <p:spPr>
          <a:xfrm>
            <a:off x="11193587" y="4600000"/>
            <a:ext cx="2000000" cy="2000000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502" name="Demo Label"/>
          <p:cNvSpPr txBox="1"/>
          <p:nvPr/>
        </p:nvSpPr>
        <p:spPr>
          <a:xfrm>
            <a:off x="1200000" y="7100000"/>
            <a:ext cx="21987175" cy="16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4000" b="1" dirty="0"/>
              <a:t>Cases — video demo</a:t>
            </a:r>
          </a:p>
          <a:p>
            <a:pPr algn="ctr">
              <a:spcBef>
                <a:spcPts val="1200"/>
              </a:spcBef>
            </a:pPr>
            <a:r>
              <a:rPr lang="en-US" sz="2400" dirty="0">
                <a:solidFill>
                  <a:srgbClr val="5A5A5A"/>
                </a:solidFill>
              </a:rPr>
              <a:t>Drop your screen-recording clip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3126552629"/>
      </p:ext>
    </p:extLst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52BC-A31A-3AFD-FA62-5B081B61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Investigate workspace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1F429-A819-1589-FBA7-B0AB71D7DF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Inside a case, analysts get one lens across every data source the collector pulled — no jumping between cloud consoles.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0F604-0481-AD77-9049-C690DC1A44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rPr lang="en-US" b="1" dirty="0"/>
              <a:t>Activity timeline</a:t>
            </a:r>
            <a:r>
              <a:rPr lang="en-US" dirty="0"/>
              <a:t> — CloudTrail, Azure Activity Log, GCP Audit Logs</a:t>
            </a:r>
          </a:p>
          <a:p>
            <a:pPr>
              <a:spcBef>
                <a:spcPts val="1400"/>
              </a:spcBef>
            </a:pPr>
            <a:r>
              <a:rPr lang="en-US" b="1" dirty="0"/>
              <a:t>Findings &amp; identity</a:t>
            </a:r>
            <a:r>
              <a:rPr lang="en-US" dirty="0"/>
              <a:t> — GuardDuty, Security Hub, Defender, SCC, IAM/RBAC</a:t>
            </a:r>
          </a:p>
          <a:p>
            <a:pPr>
              <a:spcBef>
                <a:spcPts val="1400"/>
              </a:spcBef>
            </a:pPr>
            <a:r>
              <a:rPr lang="en-US" b="1" dirty="0"/>
              <a:t>Network, DNS &amp; search</a:t>
            </a:r>
            <a:r>
              <a:rPr lang="en-US" dirty="0"/>
              <a:t> — flow logs, edge/DNS activity, cross-source search</a:t>
            </a:r>
          </a:p>
        </p:txBody>
      </p:sp>
      <p:sp>
        <p:nvSpPr>
          <p:cNvPr id="7" name="Picture Placeholder 10" descr="Place imagery here">
            <a:extLst>
              <a:ext uri="{FF2B5EF4-FFF2-40B4-BE49-F238E27FC236}">
                <a16:creationId xmlns:a16="http://schemas.microsoft.com/office/drawing/2014/main" id="{77A7CC8A-F8D4-01B6-C299-15983476AE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pPr algn="ctr"/>
            <a:r>
              <a:rPr lang="en-US" sz="2400" b="1" dirty="0">
                <a:solidFill>
                  <a:srgbClr val="6F6F6F"/>
                </a:solidFill>
              </a:rPr>
              <a:t>Screenshot — Case investigate view (CloudTrail timeline)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75C6E-9935-614F-FDDF-F1F6697CD61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© 2024 IBM Corporation</a:t>
            </a:r>
          </a:p>
        </p:txBody>
      </p:sp>
      <p:sp>
        <p:nvSpPr>
          <p:cNvPr id="601" name="Screenshot Caption"/>
          <p:cNvSpPr txBox="1"/>
          <p:nvPr/>
        </p:nvSpPr>
        <p:spPr>
          <a:xfrm>
            <a:off x="13563500" y="6600000"/>
            <a:ext cx="9449000" cy="14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2400" b="1" dirty="0">
                <a:solidFill>
                  <a:srgbClr val="6F6F6F"/>
                </a:solidFill>
              </a:rPr>
              <a:t>Screenshot — Case investigate view (CloudTrail timeline)</a:t>
            </a:r>
          </a:p>
        </p:txBody>
      </p:sp>
    </p:spTree>
    <p:extLst>
      <p:ext uri="{BB962C8B-B14F-4D97-AF65-F5344CB8AC3E}">
        <p14:creationId xmlns:p14="http://schemas.microsoft.com/office/powerpoint/2010/main" val="579239392"/>
      </p:ext>
    </p:extLst>
  </p:cSld>
  <p:clrMapOvr>
    <a:masterClrMapping/>
  </p:clrMapOvr>
  <p:transition spd="med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606A6AD9-835A-736F-B5CB-6F76193BF3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6FECC9-C6AE-DAE3-578B-05CFDA6EC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IBM Plex Sans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IBM Plex Sans"/>
            </a:endParaRPr>
          </a:p>
        </p:txBody>
      </p:sp>
      <p:sp>
        <p:nvSpPr>
          <p:cNvPr id="501" name="Play Button"/>
          <p:cNvSpPr/>
          <p:nvPr/>
        </p:nvSpPr>
        <p:spPr>
          <a:xfrm>
            <a:off x="11193587" y="4600000"/>
            <a:ext cx="2000000" cy="2000000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502" name="Demo Label"/>
          <p:cNvSpPr txBox="1"/>
          <p:nvPr/>
        </p:nvSpPr>
        <p:spPr>
          <a:xfrm>
            <a:off x="1200000" y="7100000"/>
            <a:ext cx="21987175" cy="16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4000" b="1" dirty="0"/>
              <a:t>Investigate workspace — video demo</a:t>
            </a:r>
          </a:p>
          <a:p>
            <a:pPr algn="ctr">
              <a:spcBef>
                <a:spcPts val="1200"/>
              </a:spcBef>
            </a:pPr>
            <a:r>
              <a:rPr lang="en-US" sz="2400" dirty="0">
                <a:solidFill>
                  <a:srgbClr val="5A5A5A"/>
                </a:solidFill>
              </a:rPr>
              <a:t>Drop your screen-recording clip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3126552629"/>
      </p:ext>
    </p:extLst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52BC-A31A-3AFD-FA62-5B081B61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1F429-A819-1589-FBA7-B0AB71D7DF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Before anything runs, the IR lead previews exactly which IAM actions a collection needs and builds a scoped kit — no CLI required.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0F604-0481-AD77-9049-C690DC1A44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rPr lang="en-US" b="1" dirty="0"/>
              <a:t>Browse the catalog</a:t>
            </a:r>
            <a:r>
              <a:rPr lang="en-US" dirty="0"/>
              <a:t> — artifacts available per cloud platform</a:t>
            </a:r>
          </a:p>
          <a:p>
            <a:pPr>
              <a:spcBef>
                <a:spcPts val="1400"/>
              </a:spcBef>
            </a:pPr>
            <a:r>
              <a:rPr lang="en-US" b="1" dirty="0"/>
              <a:t>Preview IAM actions</a:t>
            </a:r>
            <a:r>
              <a:rPr lang="en-US" dirty="0"/>
              <a:t> — the exact least-privilege permissions required</a:t>
            </a:r>
          </a:p>
          <a:p>
            <a:pPr>
              <a:spcBef>
                <a:spcPts val="1400"/>
              </a:spcBef>
            </a:pPr>
            <a:r>
              <a:rPr lang="en-US" b="1" dirty="0"/>
              <a:t>Build or run</a:t>
            </a:r>
            <a:r>
              <a:rPr lang="en-US" dirty="0"/>
              <a:t> — download an operator kit, or launch directly</a:t>
            </a:r>
          </a:p>
        </p:txBody>
      </p:sp>
      <p:sp>
        <p:nvSpPr>
          <p:cNvPr id="7" name="Picture Placeholder 10" descr="Place imagery here">
            <a:extLst>
              <a:ext uri="{FF2B5EF4-FFF2-40B4-BE49-F238E27FC236}">
                <a16:creationId xmlns:a16="http://schemas.microsoft.com/office/drawing/2014/main" id="{77A7CC8A-F8D4-01B6-C299-15983476AE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pPr algn="ctr"/>
            <a:r>
              <a:rPr lang="en-US" sz="2400" b="1" dirty="0">
                <a:solidFill>
                  <a:srgbClr val="6F6F6F"/>
                </a:solidFill>
              </a:rPr>
              <a:t>Screenshot — Acquire, IAM action preview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75C6E-9935-614F-FDDF-F1F6697CD61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© 2024 IBM Corporation</a:t>
            </a:r>
          </a:p>
        </p:txBody>
      </p:sp>
      <p:sp>
        <p:nvSpPr>
          <p:cNvPr id="601" name="Screenshot Caption"/>
          <p:cNvSpPr txBox="1"/>
          <p:nvPr/>
        </p:nvSpPr>
        <p:spPr>
          <a:xfrm>
            <a:off x="13563500" y="6600000"/>
            <a:ext cx="9449000" cy="14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2400" b="1" dirty="0">
                <a:solidFill>
                  <a:srgbClr val="6F6F6F"/>
                </a:solidFill>
              </a:rPr>
              <a:t>Screenshot — Acquire, IAM action preview</a:t>
            </a:r>
          </a:p>
        </p:txBody>
      </p:sp>
    </p:spTree>
    <p:extLst>
      <p:ext uri="{BB962C8B-B14F-4D97-AF65-F5344CB8AC3E}">
        <p14:creationId xmlns:p14="http://schemas.microsoft.com/office/powerpoint/2010/main" val="579239392"/>
      </p:ext>
    </p:extLst>
  </p:cSld>
  <p:clrMapOvr>
    <a:masterClrMapping/>
  </p:clrMapOvr>
  <p:transition spd="med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606A6AD9-835A-736F-B5CB-6F76193BF3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6FECC9-C6AE-DAE3-578B-05CFDA6EC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IBM Plex Sans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IBM Plex Sans"/>
            </a:endParaRPr>
          </a:p>
        </p:txBody>
      </p:sp>
      <p:sp>
        <p:nvSpPr>
          <p:cNvPr id="501" name="Play Button"/>
          <p:cNvSpPr/>
          <p:nvPr/>
        </p:nvSpPr>
        <p:spPr>
          <a:xfrm>
            <a:off x="11193587" y="4600000"/>
            <a:ext cx="2000000" cy="2000000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502" name="Demo Label"/>
          <p:cNvSpPr txBox="1"/>
          <p:nvPr/>
        </p:nvSpPr>
        <p:spPr>
          <a:xfrm>
            <a:off x="1200000" y="7100000"/>
            <a:ext cx="21987175" cy="16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4000" b="1" dirty="0"/>
              <a:t>Acquire — video demo</a:t>
            </a:r>
          </a:p>
          <a:p>
            <a:pPr algn="ctr">
              <a:spcBef>
                <a:spcPts val="1200"/>
              </a:spcBef>
            </a:pPr>
            <a:r>
              <a:rPr lang="en-US" sz="2400" dirty="0">
                <a:solidFill>
                  <a:srgbClr val="5A5A5A"/>
                </a:solidFill>
              </a:rPr>
              <a:t>Drop your screen-recording clip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3126552629"/>
      </p:ext>
    </p:extLst>
  </p:cSld>
  <p:clrMapOvr>
    <a:masterClrMapping/>
  </p:clrMapOvr>
  <p:transition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52BC-A31A-3AFD-FA62-5B081B61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kits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1F429-A819-1589-FBA7-B0AB71D7DF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Deployable, versioned kits that package the exact collectors and credential scope an engagement approved — ready to hand to an operator.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0F604-0481-AD77-9049-C690DC1A44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rPr lang="en-US" b="1" dirty="0"/>
              <a:t>Kit library</a:t>
            </a:r>
            <a:r>
              <a:rPr lang="en-US" dirty="0"/>
              <a:t> — every kit built for this engagement, in one place</a:t>
            </a:r>
          </a:p>
          <a:p>
            <a:pPr>
              <a:spcBef>
                <a:spcPts val="1400"/>
              </a:spcBef>
            </a:pPr>
            <a:r>
              <a:rPr lang="en-US" b="1" dirty="0"/>
              <a:t>Guided run wizard</a:t>
            </a:r>
            <a:r>
              <a:rPr lang="en-US" dirty="0"/>
              <a:t> — walks an operator through execution</a:t>
            </a:r>
          </a:p>
          <a:p>
            <a:pPr>
              <a:spcBef>
                <a:spcPts val="1400"/>
              </a:spcBef>
            </a:pPr>
            <a:r>
              <a:rPr lang="en-US" b="1" dirty="0"/>
              <a:t>Reusable</a:t>
            </a:r>
            <a:r>
              <a:rPr lang="en-US" dirty="0"/>
              <a:t> — save a kit and rerun it on the next engagement</a:t>
            </a:r>
          </a:p>
        </p:txBody>
      </p:sp>
      <p:sp>
        <p:nvSpPr>
          <p:cNvPr id="7" name="Picture Placeholder 10" descr="Place imagery here">
            <a:extLst>
              <a:ext uri="{FF2B5EF4-FFF2-40B4-BE49-F238E27FC236}">
                <a16:creationId xmlns:a16="http://schemas.microsoft.com/office/drawing/2014/main" id="{77A7CC8A-F8D4-01B6-C299-15983476AE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pPr algn="ctr"/>
            <a:r>
              <a:rPr lang="en-US" sz="2400" b="1" dirty="0">
                <a:solidFill>
                  <a:srgbClr val="6F6F6F"/>
                </a:solidFill>
              </a:rPr>
              <a:t>Screenshot — Collection Kits library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75C6E-9935-614F-FDDF-F1F6697CD61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© 2024 IBM Corporation</a:t>
            </a:r>
          </a:p>
        </p:txBody>
      </p:sp>
      <p:sp>
        <p:nvSpPr>
          <p:cNvPr id="601" name="Screenshot Caption"/>
          <p:cNvSpPr txBox="1"/>
          <p:nvPr/>
        </p:nvSpPr>
        <p:spPr>
          <a:xfrm>
            <a:off x="13563500" y="6600000"/>
            <a:ext cx="9449000" cy="14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2400" b="1" dirty="0">
                <a:solidFill>
                  <a:srgbClr val="6F6F6F"/>
                </a:solidFill>
              </a:rPr>
              <a:t>Screenshot — Collection Kits library</a:t>
            </a:r>
          </a:p>
        </p:txBody>
      </p:sp>
    </p:spTree>
    <p:extLst>
      <p:ext uri="{BB962C8B-B14F-4D97-AF65-F5344CB8AC3E}">
        <p14:creationId xmlns:p14="http://schemas.microsoft.com/office/powerpoint/2010/main" val="579239392"/>
      </p:ext>
    </p:extLst>
  </p:cSld>
  <p:clrMapOvr>
    <a:masterClrMapping/>
  </p:clrMapOvr>
  <p:transition spd="med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606A6AD9-835A-736F-B5CB-6F76193BF3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6FECC9-C6AE-DAE3-578B-05CFDA6EC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IBM Plex Sans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IBM Plex Sans"/>
            </a:endParaRPr>
          </a:p>
        </p:txBody>
      </p:sp>
      <p:sp>
        <p:nvSpPr>
          <p:cNvPr id="501" name="Play Button"/>
          <p:cNvSpPr/>
          <p:nvPr/>
        </p:nvSpPr>
        <p:spPr>
          <a:xfrm>
            <a:off x="11193587" y="4600000"/>
            <a:ext cx="2000000" cy="2000000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502" name="Demo Label"/>
          <p:cNvSpPr txBox="1"/>
          <p:nvPr/>
        </p:nvSpPr>
        <p:spPr>
          <a:xfrm>
            <a:off x="1200000" y="7100000"/>
            <a:ext cx="21987175" cy="16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4000" b="1" dirty="0"/>
              <a:t>Collection kits — video demo</a:t>
            </a:r>
          </a:p>
          <a:p>
            <a:pPr algn="ctr">
              <a:spcBef>
                <a:spcPts val="1200"/>
              </a:spcBef>
            </a:pPr>
            <a:r>
              <a:rPr lang="en-US" sz="2400" dirty="0">
                <a:solidFill>
                  <a:srgbClr val="5A5A5A"/>
                </a:solidFill>
              </a:rPr>
              <a:t>Drop your screen-recording clip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3126552629"/>
      </p:ext>
    </p:extLst>
  </p:cSld>
  <p:clrMapOvr>
    <a:masterClrMapping/>
  </p:clrMapOvr>
  <p:transition spd="med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52BC-A31A-3AFD-FA62-5B081B61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1F429-A819-1589-FBA7-B0AB71D7DF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Launch a collection run against a connected environment and watch it work — live event log, per-collector status, and run stats.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0F604-0481-AD77-9049-C690DC1A44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rPr lang="en-US" b="1" dirty="0"/>
              <a:t>Configure &amp; launch</a:t>
            </a:r>
            <a:r>
              <a:rPr lang="en-US" dirty="0"/>
              <a:t> — start a run against a connected environment</a:t>
            </a:r>
          </a:p>
          <a:p>
            <a:pPr>
              <a:spcBef>
                <a:spcPts val="1400"/>
              </a:spcBef>
            </a:pPr>
            <a:r>
              <a:rPr lang="en-US" b="1" dirty="0"/>
              <a:t>Live event log</a:t>
            </a:r>
            <a:r>
              <a:rPr lang="en-US" dirty="0"/>
              <a:t> — per-collector progress as it happens</a:t>
            </a:r>
          </a:p>
          <a:p>
            <a:pPr>
              <a:spcBef>
                <a:spcPts val="1400"/>
              </a:spcBef>
            </a:pPr>
            <a:r>
              <a:rPr lang="en-US" b="1" dirty="0"/>
              <a:t>Run stats</a:t>
            </a:r>
            <a:r>
              <a:rPr lang="en-US" dirty="0"/>
              <a:t> — status, timing, and results at a glance</a:t>
            </a:r>
          </a:p>
        </p:txBody>
      </p:sp>
      <p:sp>
        <p:nvSpPr>
          <p:cNvPr id="7" name="Picture Placeholder 10" descr="Place imagery here">
            <a:extLst>
              <a:ext uri="{FF2B5EF4-FFF2-40B4-BE49-F238E27FC236}">
                <a16:creationId xmlns:a16="http://schemas.microsoft.com/office/drawing/2014/main" id="{77A7CC8A-F8D4-01B6-C299-15983476AE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pPr algn="ctr"/>
            <a:r>
              <a:rPr lang="en-US" sz="2400" b="1" dirty="0">
                <a:solidFill>
                  <a:srgbClr val="6F6F6F"/>
                </a:solidFill>
              </a:rPr>
              <a:t>Screenshot — Scans, live run monitor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75C6E-9935-614F-FDDF-F1F6697CD61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© 2024 IBM Corporation</a:t>
            </a:r>
          </a:p>
        </p:txBody>
      </p:sp>
      <p:sp>
        <p:nvSpPr>
          <p:cNvPr id="601" name="Screenshot Caption"/>
          <p:cNvSpPr txBox="1"/>
          <p:nvPr/>
        </p:nvSpPr>
        <p:spPr>
          <a:xfrm>
            <a:off x="13563500" y="6600000"/>
            <a:ext cx="9449000" cy="14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2400" b="1" dirty="0">
                <a:solidFill>
                  <a:srgbClr val="6F6F6F"/>
                </a:solidFill>
              </a:rPr>
              <a:t>Screenshot — Scans, live run monitor</a:t>
            </a:r>
          </a:p>
        </p:txBody>
      </p:sp>
    </p:spTree>
    <p:extLst>
      <p:ext uri="{BB962C8B-B14F-4D97-AF65-F5344CB8AC3E}">
        <p14:creationId xmlns:p14="http://schemas.microsoft.com/office/powerpoint/2010/main" val="579239392"/>
      </p:ext>
    </p:extLst>
  </p:cSld>
  <p:clrMapOvr>
    <a:masterClrMapping/>
  </p:clrMapOvr>
  <p:transition spd="med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606A6AD9-835A-736F-B5CB-6F76193BF3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6FECC9-C6AE-DAE3-578B-05CFDA6EC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IBM Plex Sans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IBM Plex Sans"/>
            </a:endParaRPr>
          </a:p>
        </p:txBody>
      </p:sp>
      <p:sp>
        <p:nvSpPr>
          <p:cNvPr id="501" name="Play Button"/>
          <p:cNvSpPr/>
          <p:nvPr/>
        </p:nvSpPr>
        <p:spPr>
          <a:xfrm>
            <a:off x="11193587" y="4600000"/>
            <a:ext cx="2000000" cy="2000000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502" name="Demo Label"/>
          <p:cNvSpPr txBox="1"/>
          <p:nvPr/>
        </p:nvSpPr>
        <p:spPr>
          <a:xfrm>
            <a:off x="1200000" y="7100000"/>
            <a:ext cx="21987175" cy="16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4000" b="1" dirty="0"/>
              <a:t>Scans — video demo</a:t>
            </a:r>
          </a:p>
          <a:p>
            <a:pPr algn="ctr">
              <a:spcBef>
                <a:spcPts val="1200"/>
              </a:spcBef>
            </a:pPr>
            <a:r>
              <a:rPr lang="en-US" sz="2400" dirty="0">
                <a:solidFill>
                  <a:srgbClr val="5A5A5A"/>
                </a:solidFill>
              </a:rPr>
              <a:t>Drop your screen-recording clip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3126552629"/>
      </p:ext>
    </p:extLst>
  </p:cSld>
  <p:clrMapOvr>
    <a:masterClrMapping/>
  </p:clrMapOvr>
  <p:transition spd="med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52BC-A31A-3AFD-FA62-5B081B61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1F429-A819-1589-FBA7-B0AB71D7DF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Connect Ventra to a cloud environment once, and every collector in that engagement inherits the same scoped, auditable credentials.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0F604-0481-AD77-9049-C690DC1A44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rPr lang="en-US" b="1" dirty="0"/>
              <a:t>Connect providers</a:t>
            </a:r>
            <a:r>
              <a:rPr lang="en-US" dirty="0"/>
              <a:t> — AWS, Azure, and GCP accounts</a:t>
            </a:r>
          </a:p>
          <a:p>
            <a:pPr>
              <a:spcBef>
                <a:spcPts val="1400"/>
              </a:spcBef>
            </a:pPr>
            <a:r>
              <a:rPr lang="en-US" b="1" dirty="0"/>
              <a:t>Manage connections</a:t>
            </a:r>
            <a:r>
              <a:rPr lang="en-US" dirty="0"/>
              <a:t> — review and rotate stored credentials</a:t>
            </a:r>
          </a:p>
          <a:p>
            <a:pPr>
              <a:spcBef>
                <a:spcPts val="1400"/>
              </a:spcBef>
            </a:pPr>
            <a:r>
              <a:rPr lang="en-US" b="1" dirty="0"/>
              <a:t>Guided setup</a:t>
            </a:r>
            <a:r>
              <a:rPr lang="en-US" dirty="0"/>
              <a:t> — in-console docs for each provider's IAM steps</a:t>
            </a:r>
          </a:p>
        </p:txBody>
      </p:sp>
      <p:sp>
        <p:nvSpPr>
          <p:cNvPr id="7" name="Picture Placeholder 10" descr="Place imagery here">
            <a:extLst>
              <a:ext uri="{FF2B5EF4-FFF2-40B4-BE49-F238E27FC236}">
                <a16:creationId xmlns:a16="http://schemas.microsoft.com/office/drawing/2014/main" id="{77A7CC8A-F8D4-01B6-C299-15983476AE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pPr algn="ctr"/>
            <a:r>
              <a:rPr lang="en-US" sz="2400" b="1" dirty="0">
                <a:solidFill>
                  <a:srgbClr val="6F6F6F"/>
                </a:solidFill>
              </a:rPr>
              <a:t>Screenshot — Authentication, provider connections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75C6E-9935-614F-FDDF-F1F6697CD61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© 2024 IBM Corporation</a:t>
            </a:r>
          </a:p>
        </p:txBody>
      </p:sp>
      <p:sp>
        <p:nvSpPr>
          <p:cNvPr id="601" name="Screenshot Caption"/>
          <p:cNvSpPr txBox="1"/>
          <p:nvPr/>
        </p:nvSpPr>
        <p:spPr>
          <a:xfrm>
            <a:off x="13563500" y="6600000"/>
            <a:ext cx="9449000" cy="14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2400" b="1" dirty="0">
                <a:solidFill>
                  <a:srgbClr val="6F6F6F"/>
                </a:solidFill>
              </a:rPr>
              <a:t>Screenshot — Authentication, provider connections</a:t>
            </a:r>
          </a:p>
        </p:txBody>
      </p:sp>
    </p:spTree>
    <p:extLst>
      <p:ext uri="{BB962C8B-B14F-4D97-AF65-F5344CB8AC3E}">
        <p14:creationId xmlns:p14="http://schemas.microsoft.com/office/powerpoint/2010/main" val="579239392"/>
      </p:ext>
    </p:extLst>
  </p:cSld>
  <p:clrMapOvr>
    <a:masterClrMapping/>
  </p:clrMapOvr>
  <p:transition spd="med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606A6AD9-835A-736F-B5CB-6F76193BF3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6FECC9-C6AE-DAE3-578B-05CFDA6EC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IBM Plex Sans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IBM Plex Sans"/>
            </a:endParaRPr>
          </a:p>
        </p:txBody>
      </p:sp>
      <p:sp>
        <p:nvSpPr>
          <p:cNvPr id="501" name="Play Button"/>
          <p:cNvSpPr/>
          <p:nvPr/>
        </p:nvSpPr>
        <p:spPr>
          <a:xfrm>
            <a:off x="11193587" y="4600000"/>
            <a:ext cx="2000000" cy="2000000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502" name="Demo Label"/>
          <p:cNvSpPr txBox="1"/>
          <p:nvPr/>
        </p:nvSpPr>
        <p:spPr>
          <a:xfrm>
            <a:off x="1200000" y="7100000"/>
            <a:ext cx="21987175" cy="16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4000" b="1" dirty="0"/>
              <a:t>Authentication — video demo</a:t>
            </a:r>
          </a:p>
          <a:p>
            <a:pPr algn="ctr">
              <a:spcBef>
                <a:spcPts val="1200"/>
              </a:spcBef>
            </a:pPr>
            <a:r>
              <a:rPr lang="en-US" sz="2400" dirty="0">
                <a:solidFill>
                  <a:srgbClr val="5A5A5A"/>
                </a:solidFill>
              </a:rPr>
              <a:t>Drop your screen-recording clip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3126552629"/>
      </p:ext>
    </p:extLst>
  </p:cSld>
  <p:clrMapOvr>
    <a:masterClrMapping/>
  </p:clrMapOvr>
  <p:transition spd="med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52BC-A31A-3AFD-FA62-5B081B61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1F429-A819-1589-FBA7-B0AB71D7DF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Push normalized case data straight into the SIEM the SOC already watches, so triage doesn't wait on a second tool.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0F604-0481-AD77-9049-C690DC1A44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rPr lang="en-US" b="1" dirty="0"/>
              <a:t>Elastic</a:t>
            </a:r>
            <a:r>
              <a:rPr lang="en-US" dirty="0"/>
              <a:t> — ECS-mapped NDJSON plus index template</a:t>
            </a:r>
          </a:p>
          <a:p>
            <a:pPr>
              <a:spcBef>
                <a:spcPts val="1400"/>
              </a:spcBef>
            </a:pPr>
            <a:r>
              <a:rPr lang="en-US" b="1" dirty="0"/>
              <a:t>Splunk</a:t>
            </a:r>
            <a:r>
              <a:rPr lang="en-US" dirty="0"/>
              <a:t> — CIM-mapped NDJSON over HEC</a:t>
            </a:r>
          </a:p>
          <a:p>
            <a:pPr>
              <a:spcBef>
                <a:spcPts val="1400"/>
              </a:spcBef>
            </a:pPr>
            <a:r>
              <a:rPr lang="en-US" b="1" dirty="0"/>
              <a:t>Generic NDJSON</a:t>
            </a:r>
            <a:r>
              <a:rPr lang="en-US" dirty="0"/>
              <a:t> — batched export across one or many cases</a:t>
            </a:r>
          </a:p>
        </p:txBody>
      </p:sp>
      <p:sp>
        <p:nvSpPr>
          <p:cNvPr id="7" name="Picture Placeholder 10" descr="Place imagery here">
            <a:extLst>
              <a:ext uri="{FF2B5EF4-FFF2-40B4-BE49-F238E27FC236}">
                <a16:creationId xmlns:a16="http://schemas.microsoft.com/office/drawing/2014/main" id="{77A7CC8A-F8D4-01B6-C299-15983476AE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pPr algn="ctr"/>
            <a:r>
              <a:rPr lang="en-US" sz="2400" b="1" dirty="0">
                <a:solidFill>
                  <a:srgbClr val="6F6F6F"/>
                </a:solidFill>
              </a:rPr>
              <a:t>Screenshot — Export, SIEM destinations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75C6E-9935-614F-FDDF-F1F6697CD61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© 2024 IBM Corporation</a:t>
            </a:r>
          </a:p>
        </p:txBody>
      </p:sp>
      <p:sp>
        <p:nvSpPr>
          <p:cNvPr id="601" name="Screenshot Caption"/>
          <p:cNvSpPr txBox="1"/>
          <p:nvPr/>
        </p:nvSpPr>
        <p:spPr>
          <a:xfrm>
            <a:off x="13563500" y="6600000"/>
            <a:ext cx="9449000" cy="14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2400" b="1" dirty="0">
                <a:solidFill>
                  <a:srgbClr val="6F6F6F"/>
                </a:solidFill>
              </a:rPr>
              <a:t>Screenshot — Export, SIEM destinations</a:t>
            </a:r>
          </a:p>
        </p:txBody>
      </p:sp>
    </p:spTree>
    <p:extLst>
      <p:ext uri="{BB962C8B-B14F-4D97-AF65-F5344CB8AC3E}">
        <p14:creationId xmlns:p14="http://schemas.microsoft.com/office/powerpoint/2010/main" val="579239392"/>
      </p:ext>
    </p:extLst>
  </p:cSld>
  <p:clrMapOvr>
    <a:masterClrMapping/>
  </p:clrMapOvr>
  <p:transition spd="med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606A6AD9-835A-736F-B5CB-6F76193BF3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6FECC9-C6AE-DAE3-578B-05CFDA6EC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IBM Plex Sans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IBM Plex Sans"/>
            </a:endParaRPr>
          </a:p>
        </p:txBody>
      </p:sp>
      <p:sp>
        <p:nvSpPr>
          <p:cNvPr id="501" name="Play Button"/>
          <p:cNvSpPr/>
          <p:nvPr/>
        </p:nvSpPr>
        <p:spPr>
          <a:xfrm>
            <a:off x="11193587" y="4600000"/>
            <a:ext cx="2000000" cy="2000000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502" name="Demo Label"/>
          <p:cNvSpPr txBox="1"/>
          <p:nvPr/>
        </p:nvSpPr>
        <p:spPr>
          <a:xfrm>
            <a:off x="1200000" y="7100000"/>
            <a:ext cx="21987175" cy="16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4000" b="1" dirty="0"/>
              <a:t>Export — video demo</a:t>
            </a:r>
          </a:p>
          <a:p>
            <a:pPr algn="ctr">
              <a:spcBef>
                <a:spcPts val="1200"/>
              </a:spcBef>
            </a:pPr>
            <a:r>
              <a:rPr lang="en-US" sz="2400" dirty="0">
                <a:solidFill>
                  <a:srgbClr val="5A5A5A"/>
                </a:solidFill>
              </a:rPr>
              <a:t>Drop your screen-recording clip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3126552629"/>
      </p:ext>
    </p:extLst>
  </p:cSld>
  <p:clrMapOvr>
    <a:masterClrMapping/>
  </p:clrMapOvr>
  <p:transition spd="med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52BC-A31A-3AFD-FA62-5B081B61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1F429-A819-1589-FBA7-B0AB71D7DF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Setup docs live next to the tool, not in a separate wiki — every provider's authentication and collection steps, one click away.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0F604-0481-AD77-9049-C690DC1A44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rPr lang="en-US" b="1" dirty="0"/>
              <a:t>Per-provider guides</a:t>
            </a:r>
            <a:r>
              <a:rPr lang="en-US" dirty="0"/>
              <a:t> — AWS, Azure, and GCP, side by side</a:t>
            </a:r>
          </a:p>
          <a:p>
            <a:pPr>
              <a:spcBef>
                <a:spcPts val="1400"/>
              </a:spcBef>
            </a:pPr>
            <a:r>
              <a:rPr lang="en-US" b="1" dirty="0"/>
              <a:t>Step-by-step setup</a:t>
            </a:r>
            <a:r>
              <a:rPr lang="en-US" dirty="0"/>
              <a:t> — authentication through first collection</a:t>
            </a:r>
          </a:p>
          <a:p>
            <a:pPr>
              <a:spcBef>
                <a:spcPts val="1400"/>
              </a:spcBef>
            </a:pPr>
            <a:r>
              <a:rPr lang="en-US" b="1" dirty="0"/>
              <a:t>Always current</a:t>
            </a:r>
            <a:r>
              <a:rPr lang="en-US" dirty="0"/>
              <a:t> — kept in sync with the running release</a:t>
            </a:r>
          </a:p>
        </p:txBody>
      </p:sp>
      <p:sp>
        <p:nvSpPr>
          <p:cNvPr id="7" name="Picture Placeholder 10" descr="Place imagery here">
            <a:extLst>
              <a:ext uri="{FF2B5EF4-FFF2-40B4-BE49-F238E27FC236}">
                <a16:creationId xmlns:a16="http://schemas.microsoft.com/office/drawing/2014/main" id="{77A7CC8A-F8D4-01B6-C299-15983476AE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pPr algn="ctr"/>
            <a:r>
              <a:rPr lang="en-US" sz="2400" b="1" dirty="0">
                <a:solidFill>
                  <a:srgbClr val="6F6F6F"/>
                </a:solidFill>
              </a:rPr>
              <a:t>Screenshot — Documentation hub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75C6E-9935-614F-FDDF-F1F6697CD61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© 2024 IBM Corporation</a:t>
            </a:r>
          </a:p>
        </p:txBody>
      </p:sp>
      <p:sp>
        <p:nvSpPr>
          <p:cNvPr id="601" name="Screenshot Caption"/>
          <p:cNvSpPr txBox="1"/>
          <p:nvPr/>
        </p:nvSpPr>
        <p:spPr>
          <a:xfrm>
            <a:off x="13563500" y="6600000"/>
            <a:ext cx="9449000" cy="14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2400" b="1" dirty="0">
                <a:solidFill>
                  <a:srgbClr val="6F6F6F"/>
                </a:solidFill>
              </a:rPr>
              <a:t>Screenshot — Documentation hub</a:t>
            </a:r>
          </a:p>
        </p:txBody>
      </p:sp>
    </p:spTree>
    <p:extLst>
      <p:ext uri="{BB962C8B-B14F-4D97-AF65-F5344CB8AC3E}">
        <p14:creationId xmlns:p14="http://schemas.microsoft.com/office/powerpoint/2010/main" val="579239392"/>
      </p:ext>
    </p:extLst>
  </p:cSld>
  <p:clrMapOvr>
    <a:masterClrMapping/>
  </p:clrMapOvr>
  <p:transition spd="med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606A6AD9-835A-736F-B5CB-6F76193BF3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6FECC9-C6AE-DAE3-578B-05CFDA6EC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IBM Plex Sans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IBM Plex Sans"/>
            </a:endParaRPr>
          </a:p>
        </p:txBody>
      </p:sp>
      <p:sp>
        <p:nvSpPr>
          <p:cNvPr id="501" name="Play Button"/>
          <p:cNvSpPr/>
          <p:nvPr/>
        </p:nvSpPr>
        <p:spPr>
          <a:xfrm>
            <a:off x="11193587" y="4600000"/>
            <a:ext cx="2000000" cy="2000000"/>
          </a:xfrm>
          <a:prstGeom prst="ellipse">
            <a:avLst/>
          </a:prstGeom>
          <a:solidFill>
            <a:srgbClr val="0F62FE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502" name="Demo Label"/>
          <p:cNvSpPr txBox="1"/>
          <p:nvPr/>
        </p:nvSpPr>
        <p:spPr>
          <a:xfrm>
            <a:off x="1200000" y="7100000"/>
            <a:ext cx="21987175" cy="16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4000" b="1" dirty="0"/>
              <a:t>Documentation — video demo</a:t>
            </a:r>
          </a:p>
          <a:p>
            <a:pPr algn="ctr">
              <a:spcBef>
                <a:spcPts val="1200"/>
              </a:spcBef>
            </a:pPr>
            <a:r>
              <a:rPr lang="en-US" sz="2400" dirty="0">
                <a:solidFill>
                  <a:srgbClr val="5A5A5A"/>
                </a:solidFill>
              </a:rPr>
              <a:t>Drop your screen-recording clip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3126552629"/>
      </p:ext>
    </p:extLst>
  </p:cSld>
  <p:clrMapOvr>
    <a:masterClrMapping/>
  </p:clrMapOvr>
  <p:transition spd="med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1617CC-B80D-DCAF-D8E3-946DDAFE337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6072" y="576072"/>
            <a:ext cx="4956175" cy="2859087"/>
          </a:xfrm>
          <a:prstGeom prst="rect">
            <a:avLst/>
          </a:prstGeom>
          <a:noFill/>
          <a:ln w="12700">
            <a:noFill/>
            <a:prstDash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  <a:sym typeface="IBM Plex Sans Light"/>
              </a:rPr>
              <a:t>Thank you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9415B11D-B235-E982-A6FA-D9B223BB6331}"/>
              </a:ext>
            </a:extLst>
          </p:cNvPr>
          <p:cNvCxnSpPr/>
          <p:nvPr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1AFA5D2-7279-1504-D403-697770E7B3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3600" b="1" dirty="0"/>
              <a:t>Questions?</a:t>
            </a:r>
          </a:p>
          <a:p>
            <a:pPr>
              <a:spcBef>
                <a:spcPts val="1600"/>
              </a:spcBef>
            </a:pPr>
            <a:r>
              <a:rPr lang="en-US" sz="2400" dirty="0"/>
              <a:t>Ventra — cloud forensics &amp; incident response triage tool</a:t>
            </a:r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3F2BF173-4B3B-9DAB-A195-4E7D00A711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© 2024 IBM Corporation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45BC389-64A2-850F-A1BF-F1B3DB604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55959" y="12926828"/>
            <a:ext cx="256541" cy="254001"/>
          </a:xfrm>
        </p:spPr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  <a:sym typeface="IBM Plex Sans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26193622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xf template" id="{60CEA8DB-5AC8-0948-A766-D20B75360050}" vid="{CCF96264-9E72-3945-84E4-617FB338006D}"/>
    </a:ext>
  </a:extLst>
</a:theme>
</file>

<file path=ppt/theme/theme2.xml><?xml version="1.0" encoding="utf-8"?>
<a:theme xmlns:a="http://schemas.openxmlformats.org/drawingml/2006/main" name="1_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xf template" id="{60CEA8DB-5AC8-0948-A766-D20B75360050}" vid="{590FAB02-0824-0645-B5DB-4B6695A3CB0C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4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9686</Words>
  <Application>Microsoft Macintosh PowerPoint</Application>
  <PresentationFormat>Custom</PresentationFormat>
  <Paragraphs>1391</Paragraphs>
  <Slides>90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90</vt:i4>
      </vt:variant>
    </vt:vector>
  </HeadingPairs>
  <TitlesOfParts>
    <vt:vector size="98" baseType="lpstr">
      <vt:lpstr>Arial</vt:lpstr>
      <vt:lpstr>IBM Plex Sans</vt:lpstr>
      <vt:lpstr>IBM Plex Sans ExtLt</vt:lpstr>
      <vt:lpstr>IBM Plex Sans Light</vt:lpstr>
      <vt:lpstr>IBM Plex Sans Medm</vt:lpstr>
      <vt:lpstr>IBM Plex Sans SmBld</vt:lpstr>
      <vt:lpstr>IBM presentation template</vt:lpstr>
      <vt:lpstr>1_IBM presentation template</vt:lpstr>
      <vt:lpstr>IBM STYLE NOTES</vt:lpstr>
      <vt:lpstr>Title of presentation for whatever</vt:lpstr>
      <vt:lpstr>64/86/130pt title,  5 lines maximum,  sentence case</vt:lpstr>
      <vt:lpstr>64/86/130pt title,  5 lines maximum,  sentence case  28/36pt subhead or presenter name and title</vt:lpstr>
      <vt:lpstr>64/86pt section divider, 3 lines maximum</vt:lpstr>
      <vt:lpstr>172pt Go  simple and big  if possible</vt:lpstr>
      <vt:lpstr>36/44/64/86pt headline,  3 lines maximum,  sentence case</vt:lpstr>
      <vt:lpstr>“64/86pt quote or callout text igendamus et liquis apic totatemolorita berum magna ntiorio te omni magnis. Del mint quibusum eleniet et optatem nonsec.”  28/36pt author attribution Lorem Lani Abo</vt:lpstr>
      <vt:lpstr>PowerPoint Presentation</vt:lpstr>
      <vt:lpstr>28/36/44pt headline,  5 lines maximum, sentence case</vt:lpstr>
      <vt:lpstr>28/36/44pt headline,  5 lines maximum, sentence case</vt:lpstr>
      <vt:lpstr>+000M</vt:lpstr>
      <vt:lpstr>28/36/44pt headline,  5 lines maximum, sentence case</vt:lpstr>
      <vt:lpstr>28/36/44pt headline, 3 lines maximum, sentence case</vt:lpstr>
      <vt:lpstr>28/36/44pt headline, 3 lines maximum, sentence case</vt:lpstr>
      <vt:lpstr>28/36/44pt headline, 5 lines maximum, sentence case</vt:lpstr>
      <vt:lpstr>24/28pt eyebrow, 2 lines  maximum, sentence case</vt:lpstr>
      <vt:lpstr>44/64pt</vt:lpstr>
      <vt:lpstr>44/64pt</vt:lpstr>
      <vt:lpstr>28/36/44pt headline, 3 lines maximum, sentence case</vt:lpstr>
      <vt:lpstr>64/86pt headline, 3 lines maximum, sentence case</vt:lpstr>
      <vt:lpstr>28/36/44pt headline, 5 lines maximum, sentence case</vt:lpstr>
      <vt:lpstr>64/86pt headline, 3 lines maximum, sentence case</vt:lpstr>
      <vt:lpstr>64/86pt headline, 3 lines maximum, sentence case</vt:lpstr>
      <vt:lpstr>28/36/44pt headline, 5 lines maximum, sentence case</vt:lpstr>
      <vt:lpstr>28/36/44pt headline, 5 lines maximum, sentence case</vt:lpstr>
      <vt:lpstr>44/64pt </vt:lpstr>
      <vt:lpstr>PowerPoint Presentation</vt:lpstr>
      <vt:lpstr>28/36/44pt headline, 5 lines maximum, sentence case</vt:lpstr>
      <vt:lpstr>28/36/44pt headline, 5 lines maximum, sentence case</vt:lpstr>
      <vt:lpstr>64/86pt headline, 3 lines maximum, sentence case</vt:lpstr>
      <vt:lpstr>64/86pt headline, 3 lines maximum, sentence case</vt:lpstr>
      <vt:lpstr>28/36/44pt headline, 5 lines maximum, sentence case</vt:lpstr>
      <vt:lpstr>28/36/44pt headline, 5 lines maximum, sentence case</vt:lpstr>
      <vt:lpstr>64/86pt headline, 3 lines maximum, sentence case</vt:lpstr>
      <vt:lpstr>64/86pt headline, 3 lines maximum, sentence case</vt:lpstr>
      <vt:lpstr>28/36/44pt headline, 5 lines maximum, sentence case</vt:lpstr>
      <vt:lpstr>28/36/44pt headline, 5 lines maximum, sentence case</vt:lpstr>
      <vt:lpstr>28/36/44pt headline, 5 lines maximum, sentence case</vt:lpstr>
      <vt:lpstr>64/86pt headline</vt:lpstr>
      <vt:lpstr>28/36/44pt headline, 3 lines maximum, sentence case</vt:lpstr>
      <vt:lpstr>28/36/44pt headline, 3 lines maximum, sentence case</vt:lpstr>
      <vt:lpstr>28/36/44pt headline, 3 lines maximum, sentence case</vt:lpstr>
      <vt:lpstr>28/36/44pt headline, 3 lines maximum, sentence case</vt:lpstr>
      <vt:lpstr>PowerPoint Presentation</vt:lpstr>
      <vt:lpstr>PowerPoint Presentation</vt:lpstr>
      <vt:lpstr>28/36/44pt headline, 2 lines maximum, sentence case </vt:lpstr>
      <vt:lpstr>28/36/44pt headline, 5 lines maximum, sentence case</vt:lpstr>
      <vt:lpstr>Thank you</vt:lpstr>
      <vt:lpstr>PowerPoint Presentation</vt:lpstr>
      <vt:lpstr>PowerPoint Presentation</vt:lpstr>
      <vt:lpstr>X-Force Resources</vt:lpstr>
      <vt:lpstr>Pictograms—Black</vt:lpstr>
      <vt:lpstr>Pictograms—Black</vt:lpstr>
      <vt:lpstr>Pictograms—Black</vt:lpstr>
      <vt:lpstr>Pictograms—Black</vt:lpstr>
      <vt:lpstr>Pictograms—Black</vt:lpstr>
      <vt:lpstr>Pictograms—Black</vt:lpstr>
      <vt:lpstr>Pictograms—Blue 60</vt:lpstr>
      <vt:lpstr>Pictograms—Blue 60</vt:lpstr>
      <vt:lpstr>Pictograms—Blue 60</vt:lpstr>
      <vt:lpstr>Pictograms—Blue 60</vt:lpstr>
      <vt:lpstr>Pictograms—Blue 60</vt:lpstr>
      <vt:lpstr>Pictograms—Blue 60</vt:lpstr>
      <vt:lpstr>Meter</vt:lpstr>
      <vt:lpstr>Bar chart, dark</vt:lpstr>
      <vt:lpstr>Bar chart, light</vt:lpstr>
      <vt:lpstr>Donut, dark</vt:lpstr>
      <vt:lpstr>Donut, light</vt:lpstr>
      <vt:lpstr>Circular gauge</vt:lpstr>
      <vt:lpstr>Line graph</vt:lpstr>
      <vt:lpstr>Venn diagram, complex</vt:lpstr>
      <vt:lpstr>Venn diagram, fills</vt:lpstr>
      <vt:lpstr>Process diagram </vt:lpstr>
      <vt:lpstr>Technical diagram, dark</vt:lpstr>
      <vt:lpstr>Technical diagram, light</vt:lpstr>
      <vt:lpstr>Simplified diagram </vt:lpstr>
      <vt:lpstr>Gantt </vt:lpstr>
      <vt:lpstr>Timeline</vt:lpstr>
      <vt:lpstr>Hierarchy</vt:lpstr>
      <vt:lpstr>Proportion, square</vt:lpstr>
      <vt:lpstr>Proportion, circular</vt:lpstr>
      <vt:lpstr>Value tree</vt:lpstr>
      <vt:lpstr>RACI table</vt:lpstr>
      <vt:lpstr>Framework, light</vt:lpstr>
      <vt:lpstr>Framework, dark</vt:lpstr>
      <vt:lpstr>World map, simplified</vt:lpstr>
      <vt:lpstr>World map, simplified, pins</vt:lpstr>
      <vt:lpstr>World map, countries, pins</vt:lpstr>
      <vt:lpstr>World map, fills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Claire Nunez</dc:creator>
  <cp:keywords/>
  <dc:description/>
  <cp:lastModifiedBy>Claire Nunez</cp:lastModifiedBy>
  <cp:revision>2</cp:revision>
  <cp:lastPrinted>2019-04-25T15:14:05Z</cp:lastPrinted>
  <dcterms:created xsi:type="dcterms:W3CDTF">2024-05-22T15:29:43Z</dcterms:created>
  <dcterms:modified xsi:type="dcterms:W3CDTF">2024-06-11T12:37:50Z</dcterms:modified>
  <cp:category/>
</cp:coreProperties>
</file>